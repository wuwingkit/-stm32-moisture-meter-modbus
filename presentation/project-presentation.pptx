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0.svg" ContentType="image/svg+xml"/>
  <Override PartName="/ppt/media/image102.svg" ContentType="image/svg+xml"/>
  <Override PartName="/ppt/media/image104.svg" ContentType="image/svg+xml"/>
  <Override PartName="/ppt/media/image106.svg" ContentType="image/svg+xml"/>
  <Override PartName="/ppt/media/image109.svg" ContentType="image/svg+xml"/>
  <Override PartName="/ppt/media/image11.svg" ContentType="image/svg+xml"/>
  <Override PartName="/ppt/media/image111.svg" ContentType="image/svg+xml"/>
  <Override PartName="/ppt/media/image113.svg" ContentType="image/svg+xml"/>
  <Override PartName="/ppt/media/image117.svg" ContentType="image/svg+xml"/>
  <Override PartName="/ppt/media/image119.svg" ContentType="image/svg+xml"/>
  <Override PartName="/ppt/media/image121.svg" ContentType="image/svg+xml"/>
  <Override PartName="/ppt/media/image123.svg" ContentType="image/svg+xml"/>
  <Override PartName="/ppt/media/image128.svg" ContentType="image/svg+xml"/>
  <Override PartName="/ppt/media/image13.svg" ContentType="image/svg+xml"/>
  <Override PartName="/ppt/media/image130.svg" ContentType="image/svg+xml"/>
  <Override PartName="/ppt/media/image133.svg" ContentType="image/svg+xml"/>
  <Override PartName="/ppt/media/image135.svg" ContentType="image/svg+xml"/>
  <Override PartName="/ppt/media/image137.svg" ContentType="image/svg+xml"/>
  <Override PartName="/ppt/media/image139.svg" ContentType="image/svg+xml"/>
  <Override PartName="/ppt/media/image141.svg" ContentType="image/svg+xml"/>
  <Override PartName="/ppt/media/image143.svg" ContentType="image/svg+xml"/>
  <Override PartName="/ppt/media/image145.svg" ContentType="image/svg+xml"/>
  <Override PartName="/ppt/media/image147.svg" ContentType="image/svg+xml"/>
  <Override PartName="/ppt/media/image15.svg" ContentType="image/svg+xml"/>
  <Override PartName="/ppt/media/image17.svg" ContentType="image/svg+xml"/>
  <Override PartName="/ppt/media/image19.svg" ContentType="image/svg+xml"/>
  <Override PartName="/ppt/media/image21.svg" ContentType="image/svg+xml"/>
  <Override PartName="/ppt/media/image25.svg" ContentType="image/svg+xml"/>
  <Override PartName="/ppt/media/image27.svg" ContentType="image/svg+xml"/>
  <Override PartName="/ppt/media/image31.svg" ContentType="image/svg+xml"/>
  <Override PartName="/ppt/media/image33.svg" ContentType="image/svg+xml"/>
  <Override PartName="/ppt/media/image36.svg" ContentType="image/svg+xml"/>
  <Override PartName="/ppt/media/image38.svg" ContentType="image/svg+xml"/>
  <Override PartName="/ppt/media/image4.svg" ContentType="image/svg+xml"/>
  <Override PartName="/ppt/media/image40.svg" ContentType="image/svg+xml"/>
  <Override PartName="/ppt/media/image42.svg" ContentType="image/svg+xml"/>
  <Override PartName="/ppt/media/image44.svg" ContentType="image/svg+xml"/>
  <Override PartName="/ppt/media/image46.svg" ContentType="image/svg+xml"/>
  <Override PartName="/ppt/media/image48.svg" ContentType="image/svg+xml"/>
  <Override PartName="/ppt/media/image50.svg" ContentType="image/svg+xml"/>
  <Override PartName="/ppt/media/image52.svg" ContentType="image/svg+xml"/>
  <Override PartName="/ppt/media/image6.svg" ContentType="image/svg+xml"/>
  <Override PartName="/ppt/media/image60.svg" ContentType="image/svg+xml"/>
  <Override PartName="/ppt/media/image62.svg" ContentType="image/svg+xml"/>
  <Override PartName="/ppt/media/image64.svg" ContentType="image/svg+xml"/>
  <Override PartName="/ppt/media/image67.svg" ContentType="image/svg+xml"/>
  <Override PartName="/ppt/media/image69.svg" ContentType="image/svg+xml"/>
  <Override PartName="/ppt/media/image72.svg" ContentType="image/svg+xml"/>
  <Override PartName="/ppt/media/image78.svg" ContentType="image/svg+xml"/>
  <Override PartName="/ppt/media/image8.svg" ContentType="image/svg+xml"/>
  <Override PartName="/ppt/media/image80.svg" ContentType="image/svg+xml"/>
  <Override PartName="/ppt/media/image82.svg" ContentType="image/svg+xml"/>
  <Override PartName="/ppt/media/image85.svg" ContentType="image/svg+xml"/>
  <Override PartName="/ppt/media/image87.svg" ContentType="image/svg+xml"/>
  <Override PartName="/ppt/media/image89.svg" ContentType="image/svg+xml"/>
  <Override PartName="/ppt/media/image92.svg" ContentType="image/svg+xml"/>
  <Override PartName="/ppt/media/image94.svg" ContentType="image/svg+xml"/>
  <Override PartName="/ppt/media/image96.svg" ContentType="image/svg+xml"/>
  <Override PartName="/ppt/media/image9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1" Type="http://schemas.openxmlformats.org/officeDocument/2006/relationships/tableStyles" Target="tableStyles.xml"/><Relationship Id="rId50" Type="http://schemas.openxmlformats.org/officeDocument/2006/relationships/viewProps" Target="viewProps.xml"/><Relationship Id="rId5" Type="http://schemas.openxmlformats.org/officeDocument/2006/relationships/notesMaster" Target="notesMasters/notesMaster1.xml"/><Relationship Id="rId49" Type="http://schemas.openxmlformats.org/officeDocument/2006/relationships/presProps" Target="presProps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将为大家汇报我们小组完成的“基于Modbus协议的水分仪通信系统”实验。本次实验综合运用了嵌入式开发、工业通信协议和网络技术，成功构建了一套从硬件到软件的完整数据采集与监控系统。接下来，我将从实验概述、核心知识、硬件配置、程序设计、问题解决和最终验证等几个方面，详细介绍我们的实验过程和成果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汇报将分为九个部分。首先，我会介绍实验的整体情况。接着，深入讲解Modbus协议等核心知识。然后，详细说明硬件连接和环境配置过程。之后，我们会剖析STM32的程序设计细节。接着是上位机软件的配置方法。随后，复盘整个实验流程。我们还会分享遇到的问题及解决方案。最后，展示实验结果并进行总结与展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我们来看实验的目的。本次实验的核心目标是全方位掌握工业通信技术。理论上，我们需要深入理解Modbus协议的各个细节，包括其帧结构、功能码和校验机制。实践上，我们要学会配置硬件模块，独立编写STM32从机代码，并熟练使用上位机软件。同时，通过这次实验，我们的调试能力也得到了极大的锻炼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系统的总体架构分为三层。顶层是运行在电脑上的MThings上位机，作为主机。中间层由路由器和NT1-B模块组成，负责网络和串口的转换。底层是STM32开发板，模拟水分仪作为从机。整个系统的核心在于NT1-B的透明转发功能，它让我们可以无缝地将串口设备接入网络，而无需改动底层代码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实验取得了圆满成功。STM32成功模拟了Modbus从机，上位机可以通过网络稳定地读取和写入数据。我们实现了模拟传感器数据的实时更新，并通过调试串口输出了详细的通信过程，为问题排查提供了极大便利。这张图展示了MThings界面上实时刷新的数据曲线，直观地证明了我们系统的有效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接下来，我们将进入第二部分，深入讲解本次实验涉及的核心技术知识，特别是Modbus协议的细节。理解这些理论是成功完成实验的基础。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Modbus协议是工业通信的基础。它采用主从架构，即一个主机指挥多个从机。在我们的实验中，MThings软件扮演主机角色，而STM32开发板则作为地址为1的从机。所有通信都由主机发起，从机被动响应，这是理解整个通信流程的关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Modbus协议有多种变体。RTU是最常用的串口版本，使用二进制帧和CRC校验，效率极高，广泛用于工业现场。TCP版本则用于以太网，增加了MBAP头，是标准的网络化Modbus。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而我们实验采用的RTU over TCP，是将完整的RTU帧直接封装在TCP包中进行传输。这种方式的最大优势是，我们为传统串口设备编写的RTU代码，不需要任何修改，就能直接通过网络进行通信，实现了“零修改”入网，大大简化了设备的网络化改造过程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RTU帧的结构非常重要。它由从机地址、功能码、数据域和CRC校验四部分组成。一个关键的概念是帧间隔，因为RTU没有明确的帧结束符，它是通过检测总线上超过3.5个字符时间的静默来判断一帧结束的。我们的程序中设置了20ms的等待时间，来确保能够完整地接收每一帧数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功能码03用于读取寄存器。主机发送一个8字节的请求帧，包含从机地址、功能码、起始地址和寄存器数量。从机收到后，会返回一个应答帧，包含数据字节数和具体的寄存器值。例如，读取地址0x0010的一个寄存器，主机发送请求，从机返回包含该寄存器值的应答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功能码06用于写入单个寄存器。主机发送一个8字节的请求帧，包含目标地址和要写入的值。从机执行写入操作后，会将收到的请求帧原样返回，这个机制叫做“回显”。主机通过检查回显的帧是否与发送的一致，来确认写入是否成功。这是一种非常可靠的确认方式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CRC校验是保证数据传输正确的关键。它通过一种类似多项式除法的算法，为每一帧数据生成一个唯一的校验码。接收方会重新计算收到数据的CRC码，并与帧尾的校验码比较，如果不一致，就说明数据在传输中出错了。这里展示了CRC16-Modbus算法的核心代码实现，它是我们程序中保证通信可靠性的重要一环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这里是本次实验最关键的一个知识点：Modbus TCP和RTU over TCP的区别。简单来说，Modbus TCP带有一个7字节的MBAP头，而RTU over TCP就是把纯RTU帧放到TCP包里。因为我们用的NT1-B是透明转发，它不会去掉这个MBAP头。如果上位机选错了协议，STM32收到的第一个字节就不是它的地址，通信就会失败。所以，正确选择RTU over TCP模式是实验成功的关键。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除了Modbus协议，我们还用到了两种基础通信技术。在网络层面，我们使用TCP/IP协议，它提供可靠的面向连接的传输。一个IP地址标识一台主机，一个端口号标识一个服务。在硬件层面，STM32和NT1-B之间通过UART串口通信，这是一种异步通信方式，需要双方约定好波特率，并且接线时要注意TX和RX交叉连接，同时必须共地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了解了理论知识后，我们进入第三部分，介绍本次实验的硬件连接和环境配置。这部分是将理论付诸实践的关键步骤。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这是我们实验所需的硬件清单。核心器件包括STM32开发板、NT1-B串口转网口模块、路由器、调试器和一些辅助模块如TTL转USB。每一个器件都有其特定的用途，共同构成了我们的实验平台。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Modbus通信口的接线图。关键在于STM32的TX要接到NT1-B的RX，STM32的RX要接到NT1-B的TX，也就是交叉连接。同时，两者的GND必须连接在一起，这叫做共地，是保证通信稳定的前提。最容易犯的错误就是把TX接TX，RX接RX，那样是绝对无法通信的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调试口的接线图。我们使用STM32的USART1通过一个TTL-USB模块连接到电脑。这样，我们就可以在电脑上通过串口助手看到程序里printf输出的调试信息，比如收发了什么数据，寄存器的值是多少。这个调试口就像是我们观察程序内部运行状态的眼睛，非常重要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接下来是NT1-B模块的配置。我们需要使用官方工具来设置它的网络参数和串口参数。关键的配置包括：设置一个固定的IP地址192.168.0.10，端口502，工作模式为TCP Server，以及串口波特率9600，数据格式8N1。这些参数必须和我们的网络环境以及STM32代码中的设置完全一致。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为了让电脑和NT1-B能互相通信，它们必须在同一个局域网。我们通过修改路由器的LAN口设置，将路由器的IP地址设置为192.168.0.1。这样，路由器分配给电脑的IP地址就会和NT1-B的IP地址在同一个网段，确保网络畅通。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硬件配置完成后，我们进入第四部分，详细解析STM32的程序设计。这部分是整个实验的软件核心，体现了我们如何将理论知识转化为实际代码。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程序采用了经典的前后台架构。后台是中断服务程序，负责实时接收串口数据并放入缓冲区，这个过程非常快，保证了数据不会丢失。前台是主循环，负责处理缓冲区中的数据，执行传感器模拟和Modbus协议解析等复杂任务。这种架构分工明确，既保证了实时性，又使得程序逻辑清晰、健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程序设计了双串口。USART1作为调试口，波特率115200，用于输出调试信息，帮助我们观察程序运行状态。USART2作为Modbus通信口，波特率9600，用于和NT1-B模块进行数据交换。两个串口各司其职，大大提高了开发和调试的效率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用一个数组来模拟水分仪的寄存器表。每个寄存器都有明确的地址和含义。特别值得注意的是，水分值和温度值我们采用了“实际值乘以10”的整数存储方式。这样做有三个好处：一是避免了嵌入式系统中效率低下的浮点运算；二是符合Modbus协议寄存器是16位整数的规定；三是上位机可以通过设置系数0.1，方便地还原出真实的小数数值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USART2的接收中断函数，是保证通信实时性的核心。每当硬件收到一个字节，就会触发这个中断。函数的工作很简单：读取数据，存入缓冲区，并增加计数。这里有一个非常重要的安全机制——溢出保护，它确保即使收到大量乱码，缓冲区索引也不会超出范围，防止程序崩溃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Modbus_Process函数是协议栈的大脑。它首先进行三重验证：长度验证、地址验证和CRC验证。只有通过了这三重验证的帧，才会被认为是有效的。然后，函数会根据功能码，将帧分发给对应的处理函数，比如处理读寄存器的Handle_FC03和处理写寄存器的Handle_FC06。这个机制保证了我们的程序只处理合法、正确的指令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功能码处理函数负责具体的读写操作。Handle_FC03函数会根据请求，从寄存器数组中取出数据，构建应答帧并发送。Handle_FC06函数则负责将值写入寄存器，并进行回显应答，同时还实现了只读保护逻辑。此外，我们还编写了一个传感器模拟函数，它会每秒随机更新水分和温度值，模拟真实传感器的工作状态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现在我们来看上位机软件MThings的配置。最关键的一步就是协议选择。我们必须选择“Modbus RTU over TCP”，而不是“Modbus TCP”。因为我们前面讲过，NT1-B是透明转发，如果选错了协议，STM32收到的帧格式就不对，通信必然失败。这张截图展示了正确的配置界面，包括IP地址、端口和从机地址的设置。请大家务必记住这个核心规则：透传模式下，上位机请选择RTU over TCP，而不是原生的Modbus TCP。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连接成功后，我们需要添加点位。每个点位对应一个寄存器。配置时有几个要点：首先，地址要从十六进制转换成十进制；其次，对于水分和温度值，要把系数设为0.1，这样才能正确显示小数；最后，要根据寄存器的读写属性设置相应的功能码。这张图展示了我们配置的三个点位及其参数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接下来，我们将完整地复盘整个实验的步骤，从程序开发到最终验证，清晰地展示我们是如何一步步完成这个项目的。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实验的第一阶段是程序开发和串口验证。我们首先在Keil中搭建工程并编写代码，这一步涵盖了从基础的串口初始化到复杂的Modbus帧处理。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然后编译烧录到STM32。接着，通过调试串口确认程序运行正常，观察模拟的传感器数据是否正确刷新。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也是最关键的一步，我们将USB-TTL模块切换到USART2，直接用串口助手向STM32发送构造好的Modbus指令，验证它能否正确解析并给出应答。这一步是为了确保STM32的程序逻辑本身没有问题，为后续的联网测试打下坚实基础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第二阶段是搭建网络环境。我们首先配置路由器和NT1-B模块，确保它们在同一网段。然后按照接线图连接好所有硬件。最后，通过在电脑上ping NT1-B的IP地址来测试网络是否连通。如果ping通了，就说明从电脑到NT1-B的网络链路已经打通。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阶段是最终的端到端测试。我们打开MThings，配置好连接参数。在这里我们遇到了一个关键问题，就是一开始选错了协议导致通信失败，后来通过分析调试信息找到了原因并解决。之后，我们添加点位并启动轮询，成功看到了实时数据。最后，我们还验证了写操作的功能，完成了整个实验的所有验证步骤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在实验过程中，我们并非一帆风顺，遇到了一些问题。接下来，我们将分享遇到的主要问题以及我们的解决方案，这对于理解整个系统非常有帮助。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遇到的第一个问题，也是最关键的问题，就是MThings通信失败。现象是上位机超时，但直接用串口测试却正常。通过分析调试信息，我们发现STM32收到的帧格式不对，第一个字节是0x00而不是预期的0x01。最终定位到原因是MThings选错了协议，使用了Modbus TCP而不是RTU over TCP。将协议改过来后，问题迎刃而解。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还遇到了两个程序层面的问题。第一个是程序卡死在延时函数里，原因是我们混用了自定义延时和库函数延时，并且没有初始化系统滴答定时器。第二个问题是调试器里看USART2寄存器是乱码，根源也是程序在初始化前就卡死了。这两个问题都通过规范代码、确保正确的初始化顺序得到了解决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解决了所有问题后，我们进入最后一部分：实验结果验证。我们将展示系统的实际运行效果。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首先是读操作验证。MThings成功读取了三个寄存器的值，并且正确地显示了出来。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左侧列出了我们的验证结果：砂石种类直接映射为1；水分和温度值根据我们设置的系数0.1，正确地将整数寄存器值换算为带一位小数的百分比和摄氏度单位。更重要的是，水分和温度值在界面上呈现出动态随机游走的状态，这与我们在程序中模拟传感器数据波动的逻辑完全一致，验证了通信和数据解析的准确性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右侧的截图直观展示了MThings的数据表格和趋势曲线界面，实时展示了这些数值的变化情况。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是写操作和只读保护的验证。我们成功地将砂石种类寄存器的值从1改为3，MThings界面也立即更新，证明写操作有效。然后，我们尝试向只读的水分值寄存器写入数据，STM32正确地拒绝了这个操作，MThings报告超时。这说明我们的只读保护逻辑工作正常，增强了程序的健壮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我们调试串口输出的日志样例。通过这些信息，我们可以清晰地看到程序的启动状态、传感器的实时值，以及每一次收发的Modbus帧的详细内容。这对于我们理解通信过程、分析问题提供了极大的帮助。比如，我们可以清楚地看到主机请求读取水分值，以及从机的应答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最后，我们对本次实验进行总结，并归纳其中的核心知识点。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通过这次实验，我们系统地掌握了多个核心知识点。从Modbus协议的实现，到TCP/IP网络的配置，再到嵌入式编程中的中断处理和调试技巧，每一步都加深了我们对工业通信系统的理解。特别是对Modbus RTU和TCP区别的深刻理解，以及调试方法的熟练运用，都是非常宝贵的经验。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本次实验只是一个起点。未来，我们可以在此基础上进行更多扩展。比如，实现更多的Modbus功能码，或者让STM32直接支持Modbus TCP。更进一步，可以接入真实的传感器，实现真正的数据采集。还可以扩展到RS485总线，支持多设备通信，甚至将数据上传到云端，实现物联网应用。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我的汇报到此结束，感谢大家的聆听！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8.svg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11.svg"/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9.svg"/><Relationship Id="rId8" Type="http://schemas.openxmlformats.org/officeDocument/2006/relationships/image" Target="../media/image18.png"/><Relationship Id="rId7" Type="http://schemas.openxmlformats.org/officeDocument/2006/relationships/image" Target="../media/image17.svg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4" Type="http://schemas.openxmlformats.org/officeDocument/2006/relationships/notesSlide" Target="../notesSlides/notesSlide5.x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22.png"/><Relationship Id="rId11" Type="http://schemas.openxmlformats.org/officeDocument/2006/relationships/image" Target="../media/image21.svg"/><Relationship Id="rId10" Type="http://schemas.openxmlformats.org/officeDocument/2006/relationships/image" Target="../media/image20.png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3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30.png"/><Relationship Id="rId8" Type="http://schemas.openxmlformats.org/officeDocument/2006/relationships/image" Target="../media/image29.jpeg"/><Relationship Id="rId7" Type="http://schemas.openxmlformats.org/officeDocument/2006/relationships/image" Target="../media/image21.svg"/><Relationship Id="rId6" Type="http://schemas.openxmlformats.org/officeDocument/2006/relationships/image" Target="../media/image28.png"/><Relationship Id="rId5" Type="http://schemas.openxmlformats.org/officeDocument/2006/relationships/image" Target="../media/image27.svg"/><Relationship Id="rId4" Type="http://schemas.openxmlformats.org/officeDocument/2006/relationships/image" Target="../media/image26.png"/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2" Type="http://schemas.openxmlformats.org/officeDocument/2006/relationships/notesSlide" Target="../notesSlides/notesSlide7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31.svg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33.svg"/><Relationship Id="rId2" Type="http://schemas.openxmlformats.org/officeDocument/2006/relationships/image" Target="../media/image32.png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9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36.svg"/><Relationship Id="rId4" Type="http://schemas.openxmlformats.org/officeDocument/2006/relationships/image" Target="../media/image35.png"/><Relationship Id="rId3" Type="http://schemas.openxmlformats.org/officeDocument/2006/relationships/image" Target="../media/image25.svg"/><Relationship Id="rId2" Type="http://schemas.openxmlformats.org/officeDocument/2006/relationships/image" Target="../media/image34.png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0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40.svg"/><Relationship Id="rId4" Type="http://schemas.openxmlformats.org/officeDocument/2006/relationships/image" Target="../media/image39.png"/><Relationship Id="rId3" Type="http://schemas.openxmlformats.org/officeDocument/2006/relationships/image" Target="../media/image38.svg"/><Relationship Id="rId2" Type="http://schemas.openxmlformats.org/officeDocument/2006/relationships/image" Target="../media/image37.png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1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46.svg"/><Relationship Id="rId6" Type="http://schemas.openxmlformats.org/officeDocument/2006/relationships/image" Target="../media/image45.png"/><Relationship Id="rId5" Type="http://schemas.openxmlformats.org/officeDocument/2006/relationships/image" Target="../media/image44.svg"/><Relationship Id="rId4" Type="http://schemas.openxmlformats.org/officeDocument/2006/relationships/image" Target="../media/image43.png"/><Relationship Id="rId3" Type="http://schemas.openxmlformats.org/officeDocument/2006/relationships/image" Target="../media/image42.svg"/><Relationship Id="rId2" Type="http://schemas.openxmlformats.org/officeDocument/2006/relationships/image" Target="../media/image41.png"/><Relationship Id="rId1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2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50.svg"/><Relationship Id="rId4" Type="http://schemas.openxmlformats.org/officeDocument/2006/relationships/image" Target="../media/image49.png"/><Relationship Id="rId3" Type="http://schemas.openxmlformats.org/officeDocument/2006/relationships/image" Target="../media/image48.svg"/><Relationship Id="rId2" Type="http://schemas.openxmlformats.org/officeDocument/2006/relationships/image" Target="../media/image47.png"/><Relationship Id="rId1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3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11.svg"/><Relationship Id="rId4" Type="http://schemas.openxmlformats.org/officeDocument/2006/relationships/image" Target="../media/image53.png"/><Relationship Id="rId3" Type="http://schemas.openxmlformats.org/officeDocument/2006/relationships/image" Target="../media/image52.svg"/><Relationship Id="rId2" Type="http://schemas.openxmlformats.org/officeDocument/2006/relationships/image" Target="../media/image51.png"/><Relationship Id="rId1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4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52.svg"/><Relationship Id="rId4" Type="http://schemas.openxmlformats.org/officeDocument/2006/relationships/image" Target="../media/image51.png"/><Relationship Id="rId3" Type="http://schemas.openxmlformats.org/officeDocument/2006/relationships/image" Target="../media/image27.svg"/><Relationship Id="rId2" Type="http://schemas.openxmlformats.org/officeDocument/2006/relationships/image" Target="../media/image54.png"/><Relationship Id="rId1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5.jpe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51.png"/><Relationship Id="rId8" Type="http://schemas.openxmlformats.org/officeDocument/2006/relationships/image" Target="../media/image62.svg"/><Relationship Id="rId7" Type="http://schemas.openxmlformats.org/officeDocument/2006/relationships/image" Target="../media/image61.png"/><Relationship Id="rId6" Type="http://schemas.openxmlformats.org/officeDocument/2006/relationships/image" Target="../media/image60.svg"/><Relationship Id="rId5" Type="http://schemas.openxmlformats.org/officeDocument/2006/relationships/image" Target="../media/image59.png"/><Relationship Id="rId4" Type="http://schemas.openxmlformats.org/officeDocument/2006/relationships/image" Target="../media/image58.jpeg"/><Relationship Id="rId3" Type="http://schemas.openxmlformats.org/officeDocument/2006/relationships/image" Target="../media/image57.jpeg"/><Relationship Id="rId2" Type="http://schemas.openxmlformats.org/officeDocument/2006/relationships/image" Target="../media/image56.jpeg"/><Relationship Id="rId14" Type="http://schemas.openxmlformats.org/officeDocument/2006/relationships/notesSlide" Target="../notesSlides/notesSlide16.x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64.svg"/><Relationship Id="rId11" Type="http://schemas.openxmlformats.org/officeDocument/2006/relationships/image" Target="../media/image63.png"/><Relationship Id="rId10" Type="http://schemas.openxmlformats.org/officeDocument/2006/relationships/image" Target="../media/image52.svg"/><Relationship Id="rId1" Type="http://schemas.openxmlformats.org/officeDocument/2006/relationships/image" Target="../media/image2.jpeg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7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67.svg"/><Relationship Id="rId3" Type="http://schemas.openxmlformats.org/officeDocument/2006/relationships/image" Target="../media/image66.png"/><Relationship Id="rId2" Type="http://schemas.openxmlformats.org/officeDocument/2006/relationships/image" Target="../media/image65.jpeg"/><Relationship Id="rId1" Type="http://schemas.openxmlformats.org/officeDocument/2006/relationships/image" Target="../media/image2.jpe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8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72.svg"/><Relationship Id="rId5" Type="http://schemas.openxmlformats.org/officeDocument/2006/relationships/image" Target="../media/image71.png"/><Relationship Id="rId4" Type="http://schemas.openxmlformats.org/officeDocument/2006/relationships/image" Target="../media/image70.jpeg"/><Relationship Id="rId3" Type="http://schemas.openxmlformats.org/officeDocument/2006/relationships/image" Target="../media/image69.svg"/><Relationship Id="rId2" Type="http://schemas.openxmlformats.org/officeDocument/2006/relationships/image" Target="../media/image68.png"/><Relationship Id="rId1" Type="http://schemas.openxmlformats.org/officeDocument/2006/relationships/image" Target="../media/image2.jpeg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9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image" Target="../media/image2.jpeg"/></Relationships>
</file>

<file path=ppt/slides/_rels/slide2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0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48.svg"/><Relationship Id="rId3" Type="http://schemas.openxmlformats.org/officeDocument/2006/relationships/image" Target="../media/image47.png"/><Relationship Id="rId2" Type="http://schemas.openxmlformats.org/officeDocument/2006/relationships/image" Target="../media/image75.png"/><Relationship Id="rId1" Type="http://schemas.openxmlformats.org/officeDocument/2006/relationships/image" Target="../media/image2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76.jpeg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2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82.svg"/><Relationship Id="rId6" Type="http://schemas.openxmlformats.org/officeDocument/2006/relationships/image" Target="../media/image81.png"/><Relationship Id="rId5" Type="http://schemas.openxmlformats.org/officeDocument/2006/relationships/image" Target="../media/image80.svg"/><Relationship Id="rId4" Type="http://schemas.openxmlformats.org/officeDocument/2006/relationships/image" Target="../media/image79.png"/><Relationship Id="rId3" Type="http://schemas.openxmlformats.org/officeDocument/2006/relationships/image" Target="../media/image78.svg"/><Relationship Id="rId2" Type="http://schemas.openxmlformats.org/officeDocument/2006/relationships/image" Target="../media/image77.png"/><Relationship Id="rId1" Type="http://schemas.openxmlformats.org/officeDocument/2006/relationships/image" Target="../media/image2.jpeg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image" Target="../media/image87.svg"/><Relationship Id="rId8" Type="http://schemas.openxmlformats.org/officeDocument/2006/relationships/image" Target="../media/image86.png"/><Relationship Id="rId7" Type="http://schemas.openxmlformats.org/officeDocument/2006/relationships/image" Target="../media/image21.svg"/><Relationship Id="rId6" Type="http://schemas.openxmlformats.org/officeDocument/2006/relationships/image" Target="../media/image28.png"/><Relationship Id="rId5" Type="http://schemas.openxmlformats.org/officeDocument/2006/relationships/image" Target="../media/image85.svg"/><Relationship Id="rId4" Type="http://schemas.openxmlformats.org/officeDocument/2006/relationships/image" Target="../media/image84.png"/><Relationship Id="rId3" Type="http://schemas.openxmlformats.org/officeDocument/2006/relationships/image" Target="../media/image33.svg"/><Relationship Id="rId2" Type="http://schemas.openxmlformats.org/officeDocument/2006/relationships/image" Target="../media/image83.png"/><Relationship Id="rId13" Type="http://schemas.openxmlformats.org/officeDocument/2006/relationships/notesSlide" Target="../notesSlides/notesSlide23.xml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89.svg"/><Relationship Id="rId10" Type="http://schemas.openxmlformats.org/officeDocument/2006/relationships/image" Target="../media/image88.png"/><Relationship Id="rId1" Type="http://schemas.openxmlformats.org/officeDocument/2006/relationships/image" Target="../media/image2.jpeg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4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94.svg"/><Relationship Id="rId6" Type="http://schemas.openxmlformats.org/officeDocument/2006/relationships/image" Target="../media/image93.png"/><Relationship Id="rId5" Type="http://schemas.openxmlformats.org/officeDocument/2006/relationships/image" Target="../media/image92.svg"/><Relationship Id="rId4" Type="http://schemas.openxmlformats.org/officeDocument/2006/relationships/image" Target="../media/image91.png"/><Relationship Id="rId3" Type="http://schemas.openxmlformats.org/officeDocument/2006/relationships/image" Target="../media/image6.svg"/><Relationship Id="rId2" Type="http://schemas.openxmlformats.org/officeDocument/2006/relationships/image" Target="../media/image90.png"/><Relationship Id="rId1" Type="http://schemas.openxmlformats.org/officeDocument/2006/relationships/image" Target="../media/image2.jpeg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5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100.svg"/><Relationship Id="rId6" Type="http://schemas.openxmlformats.org/officeDocument/2006/relationships/image" Target="../media/image99.png"/><Relationship Id="rId5" Type="http://schemas.openxmlformats.org/officeDocument/2006/relationships/image" Target="../media/image98.svg"/><Relationship Id="rId4" Type="http://schemas.openxmlformats.org/officeDocument/2006/relationships/image" Target="../media/image97.png"/><Relationship Id="rId3" Type="http://schemas.openxmlformats.org/officeDocument/2006/relationships/image" Target="../media/image96.svg"/><Relationship Id="rId2" Type="http://schemas.openxmlformats.org/officeDocument/2006/relationships/image" Target="../media/image95.png"/><Relationship Id="rId1" Type="http://schemas.openxmlformats.org/officeDocument/2006/relationships/image" Target="../media/image2.jpeg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6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100.svg"/><Relationship Id="rId6" Type="http://schemas.openxmlformats.org/officeDocument/2006/relationships/image" Target="../media/image99.png"/><Relationship Id="rId5" Type="http://schemas.openxmlformats.org/officeDocument/2006/relationships/image" Target="../media/image104.svg"/><Relationship Id="rId4" Type="http://schemas.openxmlformats.org/officeDocument/2006/relationships/image" Target="../media/image103.png"/><Relationship Id="rId3" Type="http://schemas.openxmlformats.org/officeDocument/2006/relationships/image" Target="../media/image102.svg"/><Relationship Id="rId2" Type="http://schemas.openxmlformats.org/officeDocument/2006/relationships/image" Target="../media/image101.png"/><Relationship Id="rId1" Type="http://schemas.openxmlformats.org/officeDocument/2006/relationships/image" Target="../media/image2.jpeg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7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109.svg"/><Relationship Id="rId6" Type="http://schemas.openxmlformats.org/officeDocument/2006/relationships/image" Target="../media/image108.png"/><Relationship Id="rId5" Type="http://schemas.openxmlformats.org/officeDocument/2006/relationships/image" Target="../media/image17.svg"/><Relationship Id="rId4" Type="http://schemas.openxmlformats.org/officeDocument/2006/relationships/image" Target="../media/image107.png"/><Relationship Id="rId3" Type="http://schemas.openxmlformats.org/officeDocument/2006/relationships/image" Target="../media/image106.svg"/><Relationship Id="rId2" Type="http://schemas.openxmlformats.org/officeDocument/2006/relationships/image" Target="../media/image105.png"/><Relationship Id="rId1" Type="http://schemas.openxmlformats.org/officeDocument/2006/relationships/image" Target="../media/image2.jpe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8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114.png"/><Relationship Id="rId5" Type="http://schemas.openxmlformats.org/officeDocument/2006/relationships/image" Target="../media/image113.svg"/><Relationship Id="rId4" Type="http://schemas.openxmlformats.org/officeDocument/2006/relationships/image" Target="../media/image112.png"/><Relationship Id="rId3" Type="http://schemas.openxmlformats.org/officeDocument/2006/relationships/image" Target="../media/image111.svg"/><Relationship Id="rId2" Type="http://schemas.openxmlformats.org/officeDocument/2006/relationships/image" Target="../media/image110.png"/><Relationship Id="rId1" Type="http://schemas.openxmlformats.org/officeDocument/2006/relationships/image" Target="../media/image2.jpeg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121.svg"/><Relationship Id="rId7" Type="http://schemas.openxmlformats.org/officeDocument/2006/relationships/image" Target="../media/image120.png"/><Relationship Id="rId6" Type="http://schemas.openxmlformats.org/officeDocument/2006/relationships/image" Target="../media/image119.svg"/><Relationship Id="rId5" Type="http://schemas.openxmlformats.org/officeDocument/2006/relationships/image" Target="../media/image118.png"/><Relationship Id="rId4" Type="http://schemas.openxmlformats.org/officeDocument/2006/relationships/image" Target="../media/image117.svg"/><Relationship Id="rId3" Type="http://schemas.openxmlformats.org/officeDocument/2006/relationships/image" Target="../media/image116.png"/><Relationship Id="rId2" Type="http://schemas.openxmlformats.org/officeDocument/2006/relationships/image" Target="../media/image115.png"/><Relationship Id="rId10" Type="http://schemas.openxmlformats.org/officeDocument/2006/relationships/notesSlide" Target="../notesSlides/notesSlide29.xml"/><Relationship Id="rId1" Type="http://schemas.openxmlformats.org/officeDocument/2006/relationships/image" Target="../media/image2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3.jpeg"/></Relationships>
</file>

<file path=ppt/slides/_rels/slide3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1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124.jpeg"/><Relationship Id="rId3" Type="http://schemas.openxmlformats.org/officeDocument/2006/relationships/image" Target="../media/image123.svg"/><Relationship Id="rId2" Type="http://schemas.openxmlformats.org/officeDocument/2006/relationships/image" Target="../media/image122.png"/><Relationship Id="rId1" Type="http://schemas.openxmlformats.org/officeDocument/2006/relationships/image" Target="../media/image2.jpeg"/></Relationships>
</file>

<file path=ppt/slides/_rels/slide3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126.png"/><Relationship Id="rId7" Type="http://schemas.openxmlformats.org/officeDocument/2006/relationships/image" Target="../media/image13.svg"/><Relationship Id="rId6" Type="http://schemas.openxmlformats.org/officeDocument/2006/relationships/image" Target="../media/image125.png"/><Relationship Id="rId5" Type="http://schemas.openxmlformats.org/officeDocument/2006/relationships/image" Target="../media/image21.svg"/><Relationship Id="rId4" Type="http://schemas.openxmlformats.org/officeDocument/2006/relationships/image" Target="../media/image28.png"/><Relationship Id="rId3" Type="http://schemas.openxmlformats.org/officeDocument/2006/relationships/image" Target="../media/image60.svg"/><Relationship Id="rId2" Type="http://schemas.openxmlformats.org/officeDocument/2006/relationships/image" Target="../media/image59.png"/><Relationship Id="rId10" Type="http://schemas.openxmlformats.org/officeDocument/2006/relationships/notesSlide" Target="../notesSlides/notesSlide32.xml"/><Relationship Id="rId1" Type="http://schemas.openxmlformats.org/officeDocument/2006/relationships/image" Target="../media/image2.jpeg"/></Relationships>
</file>

<file path=ppt/slides/_rels/slide3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3.svg"/><Relationship Id="rId8" Type="http://schemas.openxmlformats.org/officeDocument/2006/relationships/image" Target="../media/image112.png"/><Relationship Id="rId7" Type="http://schemas.openxmlformats.org/officeDocument/2006/relationships/image" Target="../media/image130.svg"/><Relationship Id="rId6" Type="http://schemas.openxmlformats.org/officeDocument/2006/relationships/image" Target="../media/image129.png"/><Relationship Id="rId5" Type="http://schemas.openxmlformats.org/officeDocument/2006/relationships/image" Target="../media/image128.svg"/><Relationship Id="rId4" Type="http://schemas.openxmlformats.org/officeDocument/2006/relationships/image" Target="../media/image127.png"/><Relationship Id="rId3" Type="http://schemas.openxmlformats.org/officeDocument/2006/relationships/image" Target="../media/image13.svg"/><Relationship Id="rId2" Type="http://schemas.openxmlformats.org/officeDocument/2006/relationships/image" Target="../media/image125.png"/><Relationship Id="rId14" Type="http://schemas.openxmlformats.org/officeDocument/2006/relationships/notesSlide" Target="../notesSlides/notesSlide33.x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133.svg"/><Relationship Id="rId11" Type="http://schemas.openxmlformats.org/officeDocument/2006/relationships/image" Target="../media/image132.png"/><Relationship Id="rId10" Type="http://schemas.openxmlformats.org/officeDocument/2006/relationships/image" Target="../media/image131.jpeg"/><Relationship Id="rId1" Type="http://schemas.openxmlformats.org/officeDocument/2006/relationships/image" Target="../media/image2.jpe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3.jpeg"/></Relationships>
</file>

<file path=ppt/slides/_rels/slide3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5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113.svg"/><Relationship Id="rId6" Type="http://schemas.openxmlformats.org/officeDocument/2006/relationships/image" Target="../media/image112.png"/><Relationship Id="rId5" Type="http://schemas.openxmlformats.org/officeDocument/2006/relationships/image" Target="../media/image135.svg"/><Relationship Id="rId4" Type="http://schemas.openxmlformats.org/officeDocument/2006/relationships/image" Target="../media/image134.png"/><Relationship Id="rId3" Type="http://schemas.openxmlformats.org/officeDocument/2006/relationships/image" Target="../media/image128.svg"/><Relationship Id="rId2" Type="http://schemas.openxmlformats.org/officeDocument/2006/relationships/image" Target="../media/image127.png"/><Relationship Id="rId1" Type="http://schemas.openxmlformats.org/officeDocument/2006/relationships/image" Target="../media/image2.jpe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3.jpeg"/></Relationships>
</file>

<file path=ppt/slides/_rels/slide38.xml.rels><?xml version="1.0" encoding="UTF-8" standalone="yes"?>
<Relationships xmlns="http://schemas.openxmlformats.org/package/2006/relationships"><Relationship Id="rId9" Type="http://schemas.openxmlformats.org/officeDocument/2006/relationships/image" Target="../media/image22.png"/><Relationship Id="rId8" Type="http://schemas.openxmlformats.org/officeDocument/2006/relationships/image" Target="../media/image115.png"/><Relationship Id="rId7" Type="http://schemas.openxmlformats.org/officeDocument/2006/relationships/image" Target="../media/image141.svg"/><Relationship Id="rId6" Type="http://schemas.openxmlformats.org/officeDocument/2006/relationships/image" Target="../media/image140.png"/><Relationship Id="rId5" Type="http://schemas.openxmlformats.org/officeDocument/2006/relationships/image" Target="../media/image139.svg"/><Relationship Id="rId4" Type="http://schemas.openxmlformats.org/officeDocument/2006/relationships/image" Target="../media/image138.png"/><Relationship Id="rId3" Type="http://schemas.openxmlformats.org/officeDocument/2006/relationships/image" Target="../media/image137.svg"/><Relationship Id="rId2" Type="http://schemas.openxmlformats.org/officeDocument/2006/relationships/image" Target="../media/image136.png"/><Relationship Id="rId11" Type="http://schemas.openxmlformats.org/officeDocument/2006/relationships/notesSlide" Target="../notesSlides/notesSlide38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40.xml.rels><?xml version="1.0" encoding="UTF-8" standalone="yes"?>
<Relationships xmlns="http://schemas.openxmlformats.org/package/2006/relationships"><Relationship Id="rId9" Type="http://schemas.openxmlformats.org/officeDocument/2006/relationships/image" Target="../media/image98.svg"/><Relationship Id="rId8" Type="http://schemas.openxmlformats.org/officeDocument/2006/relationships/image" Target="../media/image97.png"/><Relationship Id="rId7" Type="http://schemas.openxmlformats.org/officeDocument/2006/relationships/image" Target="../media/image52.svg"/><Relationship Id="rId6" Type="http://schemas.openxmlformats.org/officeDocument/2006/relationships/image" Target="../media/image51.png"/><Relationship Id="rId5" Type="http://schemas.openxmlformats.org/officeDocument/2006/relationships/image" Target="../media/image143.svg"/><Relationship Id="rId4" Type="http://schemas.openxmlformats.org/officeDocument/2006/relationships/image" Target="../media/image142.png"/><Relationship Id="rId3" Type="http://schemas.openxmlformats.org/officeDocument/2006/relationships/image" Target="../media/image21.svg"/><Relationship Id="rId2" Type="http://schemas.openxmlformats.org/officeDocument/2006/relationships/image" Target="../media/image28.png"/><Relationship Id="rId11" Type="http://schemas.openxmlformats.org/officeDocument/2006/relationships/notesSlide" Target="../notesSlides/notesSlide40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3.jpe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43.xml.rels><?xml version="1.0" encoding="UTF-8" standalone="yes"?>
<Relationships xmlns="http://schemas.openxmlformats.org/package/2006/relationships"><Relationship Id="rId9" Type="http://schemas.openxmlformats.org/officeDocument/2006/relationships/image" Target="../media/image87.svg"/><Relationship Id="rId8" Type="http://schemas.openxmlformats.org/officeDocument/2006/relationships/image" Target="../media/image86.png"/><Relationship Id="rId7" Type="http://schemas.openxmlformats.org/officeDocument/2006/relationships/image" Target="../media/image6.svg"/><Relationship Id="rId6" Type="http://schemas.openxmlformats.org/officeDocument/2006/relationships/image" Target="../media/image90.png"/><Relationship Id="rId5" Type="http://schemas.openxmlformats.org/officeDocument/2006/relationships/image" Target="../media/image52.svg"/><Relationship Id="rId4" Type="http://schemas.openxmlformats.org/officeDocument/2006/relationships/image" Target="../media/image51.png"/><Relationship Id="rId3" Type="http://schemas.openxmlformats.org/officeDocument/2006/relationships/image" Target="../media/image145.svg"/><Relationship Id="rId2" Type="http://schemas.openxmlformats.org/officeDocument/2006/relationships/image" Target="../media/image144.png"/><Relationship Id="rId13" Type="http://schemas.openxmlformats.org/officeDocument/2006/relationships/notesSlide" Target="../notesSlides/notesSlide43.xml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147.svg"/><Relationship Id="rId10" Type="http://schemas.openxmlformats.org/officeDocument/2006/relationships/image" Target="../media/image146.png"/><Relationship Id="rId1" Type="http://schemas.openxmlformats.org/officeDocument/2006/relationships/image" Target="../media/image2.jpeg"/></Relationships>
</file>

<file path=ppt/slides/_rels/slide4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4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49.png"/><Relationship Id="rId1" Type="http://schemas.openxmlformats.org/officeDocument/2006/relationships/image" Target="../media/image14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016000" y="2286000"/>
            <a:ext cx="1016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 Modbus 协议的水分仪通信系统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3683000"/>
            <a:ext cx="1270000" cy="762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4191000"/>
            <a:ext cx="1016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0" i="0" u="none" strike="noStrike">
                <a:solidFill>
                  <a:srgbClr val="ECFDF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STM32F103 + NT1-B + MThings 综合实验报告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5461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日期：2026月4</a:t>
            </a:r>
            <a:r>
              <a:rPr lang="zh-CN" altLang="en-US" sz="18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月</a:t>
            </a:r>
            <a:r>
              <a:rPr lang="en-US" sz="18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30</a:t>
            </a:r>
            <a:r>
              <a:rPr lang="zh-CN" altLang="en-US" sz="18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日</a:t>
            </a:r>
            <a:endParaRPr lang="zh-CN" altLang="en-US" sz="18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目录 CONTENTS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302000" cy="1524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76200" cy="1524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1841500"/>
            <a:ext cx="279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实验概述</a:t>
            </a:r>
            <a:endParaRPr lang="en-US" sz="1100"/>
          </a:p>
          <a:p>
            <a:pPr indent="0" algn="l">
              <a:lnSpc>
                <a:spcPct val="100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实验目的 · 系统架构 · 成果展示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4445000" y="1651000"/>
            <a:ext cx="3302000" cy="1524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4445000" y="1651000"/>
            <a:ext cx="76200" cy="1524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4699000" y="1841500"/>
            <a:ext cx="279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核心知识讲解</a:t>
            </a:r>
            <a:endParaRPr lang="en-US" sz="1100"/>
          </a:p>
          <a:p>
            <a:pPr indent="0" algn="l">
              <a:lnSpc>
                <a:spcPct val="100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Modbus协议 · RTU帧格式 · 功能码 · CRC校验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8128000" y="1651000"/>
            <a:ext cx="3302000" cy="1524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8128000" y="1651000"/>
            <a:ext cx="76200" cy="1524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8382000" y="1841500"/>
            <a:ext cx="279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硬件连接与环境配置</a:t>
            </a:r>
            <a:endParaRPr lang="en-US" sz="1100"/>
          </a:p>
          <a:p>
            <a:pPr indent="0" algn="l">
              <a:lnSpc>
                <a:spcPct val="100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硬件清单 · 接线详图 · 模块配置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762000" y="3429000"/>
            <a:ext cx="3302000" cy="1524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762000" y="3429000"/>
            <a:ext cx="76200" cy="1524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1016000" y="3619500"/>
            <a:ext cx="279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STM32程序设计详解</a:t>
            </a:r>
            <a:endParaRPr lang="en-US" sz="1100"/>
          </a:p>
          <a:p>
            <a:pPr indent="0" algn="l">
              <a:lnSpc>
                <a:spcPct val="100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程序架构 · 双串口 · 寄存器设计 · 中断处理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4445000" y="3429000"/>
            <a:ext cx="3302000" cy="1524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4445000" y="3429000"/>
            <a:ext cx="76200" cy="1524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4699000" y="3619500"/>
            <a:ext cx="279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</a:t>
            </a: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MThings上位机配置</a:t>
            </a:r>
            <a:endParaRPr lang="en-US" sz="1100"/>
          </a:p>
          <a:p>
            <a:pPr indent="0" algn="l">
              <a:lnSpc>
                <a:spcPct val="100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协议选择 · 点位配置 · 关键步骤演示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8128000" y="3429000"/>
            <a:ext cx="3302000" cy="1524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8128000" y="3429000"/>
            <a:ext cx="76200" cy="1524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8382000" y="3619500"/>
            <a:ext cx="279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</a:t>
            </a: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实验完整步骤复盘</a:t>
            </a:r>
            <a:endParaRPr lang="en-US" sz="1100"/>
          </a:p>
          <a:p>
            <a:pPr indent="0" algn="l">
              <a:lnSpc>
                <a:spcPct val="100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开发验证 · 网络搭建 · 最终调试流程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762000" y="5080000"/>
            <a:ext cx="3302000" cy="1524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762000" y="5080000"/>
            <a:ext cx="76200" cy="1524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1016000" y="5270500"/>
            <a:ext cx="279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07</a:t>
            </a: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遇到的问题与解决方案</a:t>
            </a:r>
            <a:endParaRPr lang="en-US" sz="1100"/>
          </a:p>
          <a:p>
            <a:pPr indent="0" algn="l">
              <a:lnSpc>
                <a:spcPct val="100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常见问题分析 · 排错思路总结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4445000" y="5080000"/>
            <a:ext cx="3302000" cy="1524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4445000" y="5080000"/>
            <a:ext cx="76200" cy="1524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4699000" y="5270500"/>
            <a:ext cx="279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08</a:t>
            </a: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实验结果验证</a:t>
            </a:r>
            <a:endParaRPr lang="en-US" sz="1100"/>
          </a:p>
          <a:p>
            <a:pPr indent="0" algn="l">
              <a:lnSpc>
                <a:spcPct val="100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读写操作验证 · 调试信息分析展示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8" name="AutoShape 28"/>
          <p:cNvSpPr/>
          <p:nvPr/>
        </p:nvSpPr>
        <p:spPr>
          <a:xfrm>
            <a:off x="8128000" y="5080000"/>
            <a:ext cx="3302000" cy="1524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/>
        </p:nvSpPr>
        <p:spPr>
          <a:xfrm>
            <a:off x="8128000" y="5080000"/>
            <a:ext cx="76200" cy="1524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8382000" y="5270500"/>
            <a:ext cx="279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09</a:t>
            </a: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实验总结与展望</a:t>
            </a:r>
            <a:endParaRPr lang="en-US" sz="1100"/>
          </a:p>
          <a:p>
            <a:pPr indent="0" algn="l">
              <a:lnSpc>
                <a:spcPct val="100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核心知识点归纳 · 未来可扩展方向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实验概述 - 实验目的与核心目标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3302000" cy="4445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095500"/>
            <a:ext cx="457200" cy="4572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651000" y="2095500"/>
            <a:ext cx="215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理论掌握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2921000"/>
            <a:ext cx="2921000" cy="292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spcBef>
                <a:spcPts val="800"/>
              </a:spcBef>
              <a:defRPr/>
            </a:pPr>
            <a:r>
              <a:rPr lang="en-US" sz="14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 深入理解 Modbus 通信协议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掌握其主从架构、RTU帧格式、常用功能码（03, 06）定义，以及关键的 CRC16 校验算法。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1200"/>
              </a:spcBef>
            </a:pPr>
            <a:r>
              <a:rPr lang="en-US" sz="14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 清晰辨析协议差异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掌握 Modbus RTU、Modbus TCP 及 RTU over TCP 的区别与各自的工业应用场景。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4445000" y="1778000"/>
            <a:ext cx="3302000" cy="4445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9000" y="2095500"/>
            <a:ext cx="457200" cy="4572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5334000" y="2095500"/>
            <a:ext cx="215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实践技能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635500" y="2921000"/>
            <a:ext cx="2921000" cy="292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spcBef>
                <a:spcPts val="800"/>
              </a:spcBef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✓ 掌握串口转网口模块：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学会 NT1-B 模块的工作原理、配置方法和调试技巧。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1000"/>
              </a:spcBef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✓ 独立编写STM32代码：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模拟一个 Modbus 从机设备（水分仪），正确响应主机的读写请求。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  <a:spcBef>
                <a:spcPts val="1000"/>
              </a:spcBef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✓ 熟练使用上位机软件：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学会使用 MThings 模拟 Modbus 主机，对下位机进行数据读写和实时监控。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8128000" y="1778000"/>
            <a:ext cx="3302000" cy="4445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82000" y="2095500"/>
            <a:ext cx="457200" cy="4572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9017000" y="2095500"/>
            <a:ext cx="215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调试能力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318500" y="3048000"/>
            <a:ext cx="2921000" cy="266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 熟练运用多种调试方法</a:t>
            </a:r>
            <a:endParaRPr lang="en-US" sz="1100"/>
          </a:p>
          <a:p>
            <a:pPr indent="0" algn="l">
              <a:lnSpc>
                <a:spcPct val="133000"/>
              </a:lnSpc>
              <a:spcBef>
                <a:spcPts val="1200"/>
              </a:spcBef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查看调试串口输出日志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 Keil 开发环境单步调试代码逻辑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 通信协议帧分析工具抓包定位异常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4. 快速排查硬件接线与网络连接问题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实验概述 - 系统总体架构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5334000" cy="1016000"/>
          </a:xfrm>
          <a:prstGeom prst="roundRect">
            <a:avLst>
              <a:gd name="adj" fmla="val 10000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952500" y="1549400"/>
            <a:ext cx="495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本实验构建了一个从传感器到云端（上位机）的完整工业数据采集链路，涵盖嵌入式开发、工业协议解析和网络通信三大核心技术环节。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667000"/>
            <a:ext cx="5334000" cy="1206500"/>
          </a:xfrm>
          <a:prstGeom prst="roundRect">
            <a:avLst>
              <a:gd name="adj" fmla="val 8421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762000" y="2667000"/>
            <a:ext cx="76200" cy="1206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016000" y="2794000"/>
            <a:ext cx="482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TOP 顶层：MThings 上位机 (Modbus 主机)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400"/>
              </a:spcBef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运行在笔记本电脑，作为系统的数据监控中心和指令下发端。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通过 TCP/IP 协议向网络发送 Modbus 指令，实现对设备的控制。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762000" y="4064000"/>
            <a:ext cx="5334000" cy="1206500"/>
          </a:xfrm>
          <a:prstGeom prst="roundRect">
            <a:avLst>
              <a:gd name="adj" fmla="val 8421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762000" y="4064000"/>
            <a:ext cx="76200" cy="12065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1016000" y="4191000"/>
            <a:ext cx="482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MID 中间层：路由器 &amp; NT1-B 串口转网口模块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400"/>
              </a:spcBef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2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路由器：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提供统一的局域网环境 (192.168.0.1)。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2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NT1-B模块：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工作在“透明转发模式”的核心“翻译官”，实现网口与串口数据的双向转换。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762000" y="5397500"/>
            <a:ext cx="5334000" cy="1206500"/>
          </a:xfrm>
          <a:prstGeom prst="roundRect">
            <a:avLst>
              <a:gd name="adj" fmla="val 8421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762000" y="5397500"/>
            <a:ext cx="76200" cy="1206500"/>
          </a:xfrm>
          <a:prstGeom prst="roundRect">
            <a:avLst>
              <a:gd name="adj" fmla="val 0"/>
            </a:avLst>
          </a:prstGeom>
          <a:solidFill>
            <a:srgbClr val="F59E0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1016000" y="5524500"/>
            <a:ext cx="482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59E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BOT 底层：STM32F103RC 开发板 (Modbus 从机)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400"/>
              </a:spcBef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模拟工业水分仪设备，通过UART串口与 NT1-B 模块物理连接。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解析串口上的 Modbus RTU 帧，并严格遵循协议规则进行数据响应。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2"/>
          <a:srcRect t="7419" b="7419"/>
          <a:stretch>
            <a:fillRect/>
          </a:stretch>
        </p:blipFill>
        <p:spPr>
          <a:xfrm>
            <a:off x="6350000" y="1524000"/>
            <a:ext cx="5080000" cy="2794000"/>
          </a:xfrm>
          <a:prstGeom prst="roundRect">
            <a:avLst>
              <a:gd name="adj" fmla="val 5454"/>
            </a:avLst>
          </a:prstGeom>
          <a:noFill/>
          <a:ln w="38100" cap="flat" cmpd="sng">
            <a:solidFill>
              <a:srgbClr val="FFFFFF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16" name="AutoShape 16"/>
          <p:cNvSpPr/>
          <p:nvPr/>
        </p:nvSpPr>
        <p:spPr>
          <a:xfrm>
            <a:off x="6350000" y="4572000"/>
            <a:ext cx="5080000" cy="2032000"/>
          </a:xfrm>
          <a:prstGeom prst="roundRect">
            <a:avLst>
              <a:gd name="adj" fmla="val 750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04000" y="47625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7048500" y="47625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💡 核心思想：透明转发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604000" y="5334000"/>
            <a:ext cx="457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NT1-B模块的“透明转发”特性，实现了底层设备与上层网络的解耦。</a:t>
            </a:r>
            <a:br>
              <a:rPr lang="en-US" sz="1300" b="0" i="0" u="none" strike="noStrike">
                <a:solidFill>
                  <a:srgbClr val="FFFFFF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FFFFFF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我们可以在</a:t>
            </a:r>
            <a:r>
              <a:rPr lang="en-US" sz="1300" b="1" i="0" u="none" strike="noStrike">
                <a:solidFill>
                  <a:srgbClr val="FFFFFF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不修改 STM32 底层串口通信代码</a:t>
            </a:r>
            <a:r>
              <a:rPr lang="en-US" sz="1300" b="0" i="0" u="none" strike="noStrike">
                <a:solidFill>
                  <a:srgbClr val="FFFFFF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的前提下，将一个传统的串口设备无缝接入现代工业以太网。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实验概述 - 实验成果展示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2667000" cy="1587500"/>
          </a:xfrm>
          <a:prstGeom prst="roundRect">
            <a:avLst>
              <a:gd name="adj" fmla="val 64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1841500"/>
            <a:ext cx="355600" cy="355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397000" y="1803400"/>
            <a:ext cx="1905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Modbus 从机模拟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STM32成功模拟水分仪设备，精准响应功能码 03（读）与 06（写）指令。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3683000" y="1651000"/>
            <a:ext cx="2667000" cy="1587500"/>
          </a:xfrm>
          <a:prstGeom prst="roundRect">
            <a:avLst>
              <a:gd name="adj" fmla="val 64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73500" y="1841500"/>
            <a:ext cx="355600" cy="355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4318000" y="1803400"/>
            <a:ext cx="1905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关键参数读取验证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上位机成功读取：砂石种类(0x0010)、实时水分值(0x0011)及温度值(0x0012)。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762000" y="3556000"/>
            <a:ext cx="2667000" cy="1587500"/>
          </a:xfrm>
          <a:prstGeom prst="roundRect">
            <a:avLst>
              <a:gd name="adj" fmla="val 64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2500" y="3746500"/>
            <a:ext cx="355600" cy="355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397000" y="3708400"/>
            <a:ext cx="1905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数据写入与校验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支持对“砂石种类”寄存器写入数值，并通过“写后读”方式验证操作准确无误。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3683000" y="3556000"/>
            <a:ext cx="2667000" cy="1587500"/>
          </a:xfrm>
          <a:prstGeom prst="roundRect">
            <a:avLst>
              <a:gd name="adj" fmla="val 64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873500" y="3746500"/>
            <a:ext cx="355600" cy="3556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4318000" y="3708400"/>
            <a:ext cx="1905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传感器实时仿真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内置算法实现水分、温度数据每秒自动更新，界面曲线随数据实时动态刷新。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762000" y="5207000"/>
            <a:ext cx="5588000" cy="1270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52500" y="5461000"/>
            <a:ext cx="355600" cy="3556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1460500" y="5397500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全链路调试支持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USART1 串口实时输出 Modbus 收发帧的十六进制数据及寄存器状态，极大便利了开发阶段的协议分析与问题定位。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2"/>
          <a:srcRect l="4773" r="4773"/>
          <a:stretch>
            <a:fillRect/>
          </a:stretch>
        </p:blipFill>
        <p:spPr>
          <a:xfrm>
            <a:off x="6985000" y="1905000"/>
            <a:ext cx="4445000" cy="3048000"/>
          </a:xfrm>
          <a:prstGeom prst="rect">
            <a:avLst/>
          </a:prstGeom>
          <a:noFill/>
          <a:ln w="25400" cap="flat" cmpd="sng">
            <a:solidFill>
              <a:srgbClr val="2B2F3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20" name="AutoShape 20"/>
          <p:cNvSpPr/>
          <p:nvPr/>
        </p:nvSpPr>
        <p:spPr>
          <a:xfrm>
            <a:off x="6985000" y="5207000"/>
            <a:ext cx="4445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MThings 上位机实时监控界面</a:t>
            </a:r>
            <a:endParaRPr lang="en-US" sz="1100"/>
          </a:p>
          <a:p>
            <a:pPr indent="0" algn="ctr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图中展示了模拟水分仪设备的数据可视化面板，清晰呈现了实时变化的水分与温度曲线及关键状态数据。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016000" y="1016000"/>
            <a:ext cx="2540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2794000"/>
            <a:ext cx="762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核心知识讲解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41910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0" i="0" u="none" strike="noStrike" spc="200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CORE KNOWLEDGE EXPLANATION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5334000"/>
            <a:ext cx="1270000" cy="762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核心知识讲解 - Modbus 协议概述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20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Modbus 是工业自动化领域的“</a:t>
            </a:r>
            <a:r>
              <a:rPr lang="en-US" sz="20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普通话</a:t>
            </a:r>
            <a:r>
              <a:rPr lang="en-US" sz="20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”，是全球应用最广泛的工业串行通信协议之一。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413000"/>
            <a:ext cx="5207000" cy="1270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667000"/>
            <a:ext cx="457200" cy="4572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778000" y="2603500"/>
            <a:ext cx="393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协议起源 · Origin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由 Modicon 公司于 1979 年发布，初衷是为了解决不同厂商 PLC 设备之间的互联通信难题。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762000" y="3937000"/>
            <a:ext cx="5207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4254500"/>
            <a:ext cx="457200" cy="4572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778000" y="4127500"/>
            <a:ext cx="3937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核心架构 · Master-Slave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3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主机：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网络中的“指挥官”，发起所有通信请求。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3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从机：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网络中的“执行者”，被动等待并响应指令。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762000" y="5334000"/>
            <a:ext cx="5207000" cy="1206500"/>
          </a:xfrm>
          <a:prstGeom prst="roundRect">
            <a:avLst>
              <a:gd name="adj" fmla="val 8421"/>
            </a:avLst>
          </a:prstGeom>
          <a:solidFill>
            <a:srgbClr val="ECFDF5">
              <a:alpha val="100000"/>
            </a:srgbClr>
          </a:solidFill>
          <a:ln w="12700" cap="flat" cmpd="sng">
            <a:solidFill>
              <a:srgbClr val="10B981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5613400"/>
            <a:ext cx="457200" cy="4572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778000" y="5486400"/>
            <a:ext cx="393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65F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💻 本实验角色分配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Master：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MThings 上位机软件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Slave：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STM32 开发板 (设备地址 0x01)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8"/>
          <a:srcRect l="5572" r="5572"/>
          <a:stretch>
            <a:fillRect/>
          </a:stretch>
        </p:blipFill>
        <p:spPr>
          <a:xfrm>
            <a:off x="6223000" y="2413000"/>
            <a:ext cx="5207000" cy="2413000"/>
          </a:xfrm>
          <a:prstGeom prst="roundRect">
            <a:avLst>
              <a:gd name="adj" fmla="val 4210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15" name="AutoShape 15"/>
          <p:cNvSpPr/>
          <p:nvPr/>
        </p:nvSpPr>
        <p:spPr>
          <a:xfrm>
            <a:off x="6223000" y="5080000"/>
            <a:ext cx="5207000" cy="1460500"/>
          </a:xfrm>
          <a:prstGeom prst="roundRect">
            <a:avLst>
              <a:gd name="adj" fmla="val 6956"/>
            </a:avLst>
          </a:prstGeom>
          <a:solidFill>
            <a:srgbClr val="1F293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77000" y="53975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7112000" y="5270500"/>
            <a:ext cx="4064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CD34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🚦 通信规则 Golden Rule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通信始终由主机发起，从机之间不能直接进行对话，必须通过主机中转。这确保了工业现场通信的确定性和稳定性。</a:t>
            </a:r>
            <a:endParaRPr lang="en-US" sz="1300" b="0" i="0" u="none" strike="noStrike">
              <a:solidFill>
                <a:srgbClr val="E5E7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核心知识讲解 - Modbus 的主要变体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270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Modbus 协议根据传输介质和应用场景的不同，演化出多种变体，以下是最常见的四种：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5207000" cy="1968500"/>
          </a:xfrm>
          <a:prstGeom prst="roundRect">
            <a:avLst>
              <a:gd name="adj" fmla="val 5161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1905000"/>
            <a:ext cx="76200" cy="1968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016000" y="2032000"/>
            <a:ext cx="4699000" cy="171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1182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Modbus RTU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sz="1200" b="1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传输介质：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RS232 / RS485 串口</a:t>
            </a:r>
            <a:endParaRPr lang="en-US" sz="12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</a:pPr>
            <a:r>
              <a:rPr lang="en-US" sz="1200" b="1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核心特点：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采用紧凑的</a:t>
            </a:r>
            <a:r>
              <a:rPr lang="en-US" sz="12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二进制帧格式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，配合</a:t>
            </a:r>
            <a:r>
              <a:rPr lang="en-US" sz="12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CRC16 校验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，通信效率极高。</a:t>
            </a:r>
            <a:endParaRPr lang="en-US" sz="12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</a:pPr>
            <a:r>
              <a:rPr lang="en-US" sz="1200" b="1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典型应用：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工业现场底层互联，如 PLC、传感器、智能仪表等。</a:t>
            </a:r>
            <a:endParaRPr lang="en-US" sz="12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223000" y="1905000"/>
            <a:ext cx="5207000" cy="1968500"/>
          </a:xfrm>
          <a:prstGeom prst="roundRect">
            <a:avLst>
              <a:gd name="adj" fmla="val 5161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6223000" y="1905000"/>
            <a:ext cx="76200" cy="1968500"/>
          </a:xfrm>
          <a:prstGeom prst="roundRect">
            <a:avLst>
              <a:gd name="adj" fmla="val 0"/>
            </a:avLst>
          </a:prstGeom>
          <a:solidFill>
            <a:srgbClr val="6366F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6477000" y="2032000"/>
            <a:ext cx="4699000" cy="171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1182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Modbus ASCII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sz="1200" b="1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传输介质：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RS232 / RS485 串口</a:t>
            </a:r>
            <a:endParaRPr lang="en-US" sz="12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</a:pPr>
            <a:r>
              <a:rPr lang="en-US" sz="1200" b="1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核心特点：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基于文本的</a:t>
            </a:r>
            <a:r>
              <a:rPr lang="en-US" sz="1200" b="1" i="0" u="none" strike="noStrike">
                <a:solidFill>
                  <a:srgbClr val="6366F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ASCII 帧格式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，可读性强，使用 LRC 校验，便于人工调试。</a:t>
            </a:r>
            <a:endParaRPr lang="en-US" sz="12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</a:pPr>
            <a:r>
              <a:rPr lang="en-US" sz="1200" b="1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典型应用：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系统调试阶段或早期对可读性有要求的场景。</a:t>
            </a:r>
            <a:endParaRPr lang="en-US" sz="12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762000" y="4000500"/>
            <a:ext cx="5207000" cy="1968500"/>
          </a:xfrm>
          <a:prstGeom prst="roundRect">
            <a:avLst>
              <a:gd name="adj" fmla="val 5161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762000" y="4000500"/>
            <a:ext cx="76200" cy="1968500"/>
          </a:xfrm>
          <a:prstGeom prst="roundRect">
            <a:avLst>
              <a:gd name="adj" fmla="val 0"/>
            </a:avLst>
          </a:prstGeom>
          <a:solidFill>
            <a:srgbClr val="F59E0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1016000" y="4127500"/>
            <a:ext cx="4699000" cy="171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1182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Modbus TCP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sz="1200" b="1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传输介质：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以太网 (TCP/IP)，默认端口 502</a:t>
            </a:r>
            <a:endParaRPr lang="en-US" sz="12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</a:pPr>
            <a:r>
              <a:rPr lang="en-US" sz="1200" b="1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核心特点：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在RTU基础上增加</a:t>
            </a:r>
            <a:r>
              <a:rPr lang="en-US" sz="1200" b="1" i="0" u="none" strike="noStrike">
                <a:solidFill>
                  <a:srgbClr val="F59E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MBAP 报文头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，利用TCP协议保证可靠性，无需额外CRC校验。</a:t>
            </a:r>
            <a:endParaRPr lang="en-US" sz="12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</a:pPr>
            <a:r>
              <a:rPr lang="en-US" sz="1200" b="1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典型应用：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跨网络的 SCADA 系统、远程监控中心。</a:t>
            </a:r>
            <a:endParaRPr lang="en-US" sz="12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6223000" y="4000500"/>
            <a:ext cx="5207000" cy="1968500"/>
          </a:xfrm>
          <a:prstGeom prst="roundRect">
            <a:avLst>
              <a:gd name="adj" fmla="val 5161"/>
            </a:avLst>
          </a:prstGeom>
          <a:solidFill>
            <a:srgbClr val="ECFDF5">
              <a:alpha val="100000"/>
            </a:srgbClr>
          </a:solidFill>
          <a:ln w="25400" cap="flat" cmpd="sng">
            <a:solidFill>
              <a:srgbClr val="10B981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6477000" y="4127500"/>
            <a:ext cx="4699000" cy="171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065F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RTU over TCP (本实验采用)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sz="1200" b="1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传输介质：</a:t>
            </a:r>
            <a:r>
              <a:rPr lang="en-US" sz="12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以太网 (TCP/IP)</a:t>
            </a:r>
            <a:endParaRPr lang="en-US" sz="1200" b="0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</a:pPr>
            <a:r>
              <a:rPr lang="en-US" sz="1200" b="1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核心特点：</a:t>
            </a:r>
            <a:r>
              <a:rPr lang="en-US" sz="12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将完整的 Modbus RTU 帧“原封不动”封装在 TCP 载荷中传输，保留了完整的 RTU 帧头和 CRC。</a:t>
            </a:r>
            <a:endParaRPr lang="en-US" sz="1200" b="0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</a:pPr>
            <a:r>
              <a:rPr lang="en-US" sz="1200" b="1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价值：</a:t>
            </a:r>
            <a:r>
              <a:rPr lang="en-US" sz="12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实现传统串口设备的“零代码修改”快速联网。</a:t>
            </a:r>
            <a:endParaRPr lang="en-US" sz="1200" b="0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762000" y="6032500"/>
            <a:ext cx="10668000" cy="698500"/>
          </a:xfrm>
          <a:prstGeom prst="roundRect">
            <a:avLst>
              <a:gd name="adj" fmla="val 18181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6172200"/>
            <a:ext cx="355600" cy="3556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1460500" y="6096000"/>
            <a:ext cx="9779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思考：为什么选择 RTU over TCP？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它能最大限度复用为传统串口设备编写的 Modbus RTU 业务代码，无需针对网络协议进行改造，降低开发门槛。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核心知识讲解 - Modbus RTU 帧格式详解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RTU 帧是 Modbus 通信的基本单元，理解其结构是解析协议的关键。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159000"/>
            <a:ext cx="2603500" cy="2159000"/>
          </a:xfrm>
          <a:prstGeom prst="roundRect">
            <a:avLst>
              <a:gd name="adj" fmla="val 588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2159000"/>
            <a:ext cx="2603500" cy="762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889000" y="2413000"/>
            <a:ext cx="23495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Byte 0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从机地址 (Slave Addr)</a:t>
            </a:r>
            <a:endParaRPr lang="en-US" sz="1800" b="1" i="0" u="none" strike="noStrike">
              <a:solidFill>
                <a:srgbClr val="10B98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</a:pPr>
            <a:r>
              <a:rPr lang="en-US" sz="1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长度：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 字节 (0x01~0xF7)</a:t>
            </a:r>
            <a:endParaRPr lang="en-US" sz="12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指定接收和响应的目标从机地址。0x00 为广播地址。</a:t>
            </a:r>
            <a:endParaRPr lang="en-US" sz="11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3556000" y="2159000"/>
            <a:ext cx="2603500" cy="2159000"/>
          </a:xfrm>
          <a:prstGeom prst="roundRect">
            <a:avLst>
              <a:gd name="adj" fmla="val 588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3556000" y="2159000"/>
            <a:ext cx="2603500" cy="762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3683000" y="2413000"/>
            <a:ext cx="23495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Byte 1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8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功能码 (Function Code)</a:t>
            </a:r>
            <a:endParaRPr lang="en-US" sz="1800" b="1" i="0" u="none" strike="noStrike">
              <a:solidFill>
                <a:srgbClr val="3B82F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</a:pPr>
            <a:r>
              <a:rPr lang="en-US" sz="1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长度：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 字节</a:t>
            </a:r>
            <a:endParaRPr lang="en-US" sz="12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定义主机的操作类型，如 0x03 读保持寄存器、0x06 写单个寄存器。</a:t>
            </a:r>
            <a:endParaRPr lang="en-US" sz="11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6350000" y="2159000"/>
            <a:ext cx="2603500" cy="2159000"/>
          </a:xfrm>
          <a:prstGeom prst="roundRect">
            <a:avLst>
              <a:gd name="adj" fmla="val 588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6350000" y="2159000"/>
            <a:ext cx="2603500" cy="76200"/>
          </a:xfrm>
          <a:prstGeom prst="roundRect">
            <a:avLst>
              <a:gd name="adj" fmla="val 0"/>
            </a:avLst>
          </a:prstGeom>
          <a:solidFill>
            <a:srgbClr val="F59E0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6477000" y="2413000"/>
            <a:ext cx="23495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Byte 2 ~ N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800" b="1" i="0" u="none" strike="noStrike">
                <a:solidFill>
                  <a:srgbClr val="F59E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数据域 (Data)</a:t>
            </a:r>
            <a:endParaRPr lang="en-US" sz="1800" b="1" i="0" u="none" strike="noStrike">
              <a:solidFill>
                <a:srgbClr val="F59E0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</a:pPr>
            <a:r>
              <a:rPr lang="en-US" sz="1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长度：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可变 (N ≥ 2)</a:t>
            </a:r>
            <a:endParaRPr lang="en-US" sz="12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包含寄存器起始地址、寄存器数量、待写入数值或读取到的数据等。</a:t>
            </a:r>
            <a:endParaRPr lang="en-US" sz="11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9080500" y="2159000"/>
            <a:ext cx="2603500" cy="2159000"/>
          </a:xfrm>
          <a:prstGeom prst="roundRect">
            <a:avLst>
              <a:gd name="adj" fmla="val 588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9080500" y="2159000"/>
            <a:ext cx="2603500" cy="76200"/>
          </a:xfrm>
          <a:prstGeom prst="roundRect">
            <a:avLst>
              <a:gd name="adj" fmla="val 0"/>
            </a:avLst>
          </a:prstGeom>
          <a:solidFill>
            <a:srgbClr val="EF444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9207500" y="2413000"/>
            <a:ext cx="23495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最后 2 Bytes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800" b="1" i="0" u="none" strike="noStrike">
                <a:solidFill>
                  <a:srgbClr val="EF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CRC 校验码</a:t>
            </a:r>
            <a:endParaRPr lang="en-US" sz="1800" b="1" i="0" u="none" strike="noStrike">
              <a:solidFill>
                <a:srgbClr val="EF444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</a:pPr>
            <a:r>
              <a:rPr lang="en-US" sz="1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长度：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 字节 (低字节在前)</a:t>
            </a:r>
            <a:endParaRPr lang="en-US" sz="12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</a:t>
            </a:r>
            <a:r>
              <a:rPr lang="en-US" sz="1100" b="1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CRC16-Modbus</a:t>
            </a: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算法计算，用于检测传输过程中的数据错误。</a:t>
            </a:r>
            <a:endParaRPr lang="en-US" sz="11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762000" y="4699000"/>
            <a:ext cx="5334000" cy="1778000"/>
          </a:xfrm>
          <a:prstGeom prst="roundRect">
            <a:avLst>
              <a:gd name="adj" fmla="val 7142"/>
            </a:avLst>
          </a:prstGeom>
          <a:solidFill>
            <a:srgbClr val="ECFDF5">
              <a:alpha val="10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48895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397000" y="4851400"/>
            <a:ext cx="4445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065F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关键概念：帧间隔 (Inter-Frame Gap)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无显式帧头/帧尾：通过检测总线</a:t>
            </a:r>
            <a:r>
              <a:rPr lang="en-US" sz="1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静默期(Idle Time)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判定帧边界。</a:t>
            </a:r>
            <a:endParaRPr lang="en-US" sz="12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判定标准：出现至少</a:t>
            </a:r>
            <a:r>
              <a:rPr lang="en-US" sz="1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3.5个字符时间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的静默。在9600波特率下约为</a:t>
            </a:r>
            <a:r>
              <a:rPr lang="en-US" sz="1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4ms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2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6350000" y="4699000"/>
            <a:ext cx="5334000" cy="1778000"/>
          </a:xfrm>
          <a:prstGeom prst="roundRect">
            <a:avLst>
              <a:gd name="adj" fmla="val 7142"/>
            </a:avLst>
          </a:prstGeom>
          <a:solidFill>
            <a:srgbClr val="FFF7ED">
              <a:alpha val="100000"/>
            </a:srgbClr>
          </a:solidFill>
          <a:ln w="12700" cap="flat" cmpd="sng">
            <a:solidFill>
              <a:srgbClr val="F9731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40500" y="4889500"/>
            <a:ext cx="304800" cy="3048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6985000" y="4851400"/>
            <a:ext cx="4445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9A341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本实验策略 (STM32 实现)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为保证数据完整接收，STM32 串口中断在接收到首个字节后，启动一个</a:t>
            </a:r>
            <a:r>
              <a:rPr lang="en-US" sz="1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20ms 的定时器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2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策略优势：20ms 远大于标准帧间隔，有效规避了总线噪声或传输延迟导致的帧截断。</a:t>
            </a:r>
            <a:endParaRPr lang="en-US" sz="12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核心知识讲解 - 功能码 03：读保持寄存器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270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功能码 03 (0x03) 是 Modbus 协议中最常用的读取指令，用于从从机设备读取一个或多个保持寄存器的值。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5207000" cy="4318000"/>
          </a:xfrm>
          <a:prstGeom prst="roundRect">
            <a:avLst>
              <a:gd name="adj" fmla="val 3529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286000"/>
            <a:ext cx="355600" cy="355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2260600"/>
            <a:ext cx="4191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主机发送 (请求帧 · 固定 8 字节)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2921000"/>
            <a:ext cx="4699000" cy="889000"/>
          </a:xfrm>
          <a:prstGeom prst="roundRect">
            <a:avLst>
              <a:gd name="adj" fmla="val 11428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1143000" y="3048000"/>
            <a:ext cx="444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1F2937"/>
                </a:solidFill>
                <a:latin typeface="Roboto Mono"/>
                <a:ea typeface="Roboto Mono"/>
                <a:cs typeface="Roboto Mono"/>
                <a:sym typeface="Roboto Mono"/>
              </a:rPr>
              <a:t>[ 从机地址 ] [ 0x03 ] [ 起始地址(高/低) ] [ 寄存器数(高/低) ] [ CRC ]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4000500"/>
            <a:ext cx="4699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示例：读取从机 01 的 0x0010 寄存器开始的 1 个寄存器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300" b="1" i="0" u="none" strike="noStrike">
                <a:solidFill>
                  <a:srgbClr val="10B981"/>
                </a:solidFill>
                <a:latin typeface="Roboto Mono"/>
                <a:ea typeface="Roboto Mono"/>
                <a:cs typeface="Roboto Mono"/>
                <a:sym typeface="Roboto Mono"/>
              </a:rPr>
              <a:t>01 03 00 10 00 01 84 0A</a:t>
            </a:r>
            <a:endParaRPr lang="en-US" sz="1300" b="1" i="0" u="none" strike="noStrike">
              <a:solidFill>
                <a:srgbClr val="10B98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01：目标从机地址 | 03：功能码 | 00 10：起始寄存器地址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00 01：寄存器数量 (1个) | 84 0A：CRC 校验码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6223000" y="2032000"/>
            <a:ext cx="5207000" cy="4318000"/>
          </a:xfrm>
          <a:prstGeom prst="roundRect">
            <a:avLst>
              <a:gd name="adj" fmla="val 3529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2286000"/>
            <a:ext cx="355600" cy="355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6985000" y="2260600"/>
            <a:ext cx="4191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从机应答 (成功帧 · 长度可变)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477000" y="2921000"/>
            <a:ext cx="4699000" cy="889000"/>
          </a:xfrm>
          <a:prstGeom prst="roundRect">
            <a:avLst>
              <a:gd name="adj" fmla="val 11428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6604000" y="3048000"/>
            <a:ext cx="444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1F2937"/>
                </a:solidFill>
                <a:latin typeface="Roboto Mono"/>
                <a:ea typeface="Roboto Mono"/>
                <a:cs typeface="Roboto Mono"/>
                <a:sym typeface="Roboto Mono"/>
              </a:rPr>
              <a:t>[ 地址 ] [ 0x03 ] [ 数据字节数 ] [ 寄存器数据... ] [ CRC ]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477000" y="4000500"/>
            <a:ext cx="4699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示例应答：(假设寄存器读取值为 1)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300" b="1" i="0" u="none" strike="noStrike">
                <a:solidFill>
                  <a:srgbClr val="3B82F6"/>
                </a:solidFill>
                <a:latin typeface="Roboto Mono"/>
                <a:ea typeface="Roboto Mono"/>
                <a:cs typeface="Roboto Mono"/>
                <a:sym typeface="Roboto Mono"/>
              </a:rPr>
              <a:t>01 03 02 00 01 79 84</a:t>
            </a:r>
            <a:endParaRPr lang="en-US" sz="1300" b="1" i="0" u="none" strike="noStrike">
              <a:solidFill>
                <a:srgbClr val="3B82F6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01：地址回显 | 03：功能码回显 | 02：数据字节数 (1个寄存器 x 2字节)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00 01：寄存器的值 (0x0001 = 1) | 79 84：CRC 校验码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核心知识讲解 - 功能码 06：写单个寄存器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1079500"/>
          </a:xfrm>
          <a:prstGeom prst="roundRect">
            <a:avLst>
              <a:gd name="adj" fmla="val 14117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6256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651000" y="1549400"/>
            <a:ext cx="952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1182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功能码 06 (0x06)：单点精准写入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将一个明确的16位数值，直接写入从机设备指定的单个“保持寄存器”中，适用于控制类场景。</a:t>
            </a:r>
            <a:endParaRPr lang="en-US" sz="14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762000" y="2794000"/>
            <a:ext cx="5207000" cy="3556000"/>
          </a:xfrm>
          <a:prstGeom prst="roundRect">
            <a:avLst>
              <a:gd name="adj" fmla="val 4285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30480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460500" y="30226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主机请求帧 (固定8字节结构)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3556000"/>
            <a:ext cx="4699000" cy="635000"/>
          </a:xfrm>
          <a:prstGeom prst="roundRect">
            <a:avLst>
              <a:gd name="adj" fmla="val 1200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1143000" y="36830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1F2937"/>
                </a:solidFill>
                <a:latin typeface="Roboto Mono"/>
                <a:ea typeface="Roboto Mono"/>
                <a:cs typeface="Roboto Mono"/>
                <a:sym typeface="Roboto Mono"/>
              </a:rPr>
              <a:t>[Addr] [06] [Reg_H Reg_L] [Val_H Val_L] [CRC]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016000" y="4445000"/>
            <a:ext cx="4699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示例：向#1从机的0x0010寄存器写入“3”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111827"/>
                </a:solidFill>
                <a:latin typeface="Roboto Mono"/>
                <a:ea typeface="Roboto Mono"/>
                <a:cs typeface="Roboto Mono"/>
                <a:sym typeface="Roboto Mono"/>
              </a:rPr>
              <a:t>01 06 00 10 00 03 C8 0E</a:t>
            </a:r>
            <a:endParaRPr lang="en-US" sz="1400" b="0" i="0" u="none" strike="noStrike">
              <a:solidFill>
                <a:srgbClr val="111827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01: 目标地址 | 06: 功能码 | 00 10: 寄存器地址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00 03: 写入数据(十进制3) | C8 0E: 校验码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6223000" y="2794000"/>
            <a:ext cx="5207000" cy="3556000"/>
          </a:xfrm>
          <a:prstGeom prst="roundRect">
            <a:avLst>
              <a:gd name="adj" fmla="val 4285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77000" y="30480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6921500" y="30226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从机应答 &amp; 核心机制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477000" y="3556000"/>
            <a:ext cx="4699000" cy="762000"/>
          </a:xfrm>
          <a:prstGeom prst="roundRect">
            <a:avLst>
              <a:gd name="adj" fmla="val 10000"/>
            </a:avLst>
          </a:prstGeom>
          <a:solidFill>
            <a:srgbClr val="ECFDF5">
              <a:alpha val="100000"/>
            </a:srgbClr>
          </a:solidFill>
          <a:ln w="12700" cap="flat" cmpd="sng">
            <a:solidFill>
              <a:srgbClr val="10B981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6604000" y="3708400"/>
            <a:ext cx="444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065F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✅ 写入成功：直接回显原请求帧 (Echo)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047857"/>
                </a:solidFill>
                <a:latin typeface="Roboto Mono"/>
                <a:ea typeface="Roboto Mono"/>
                <a:cs typeface="Roboto Mono"/>
                <a:sym typeface="Roboto Mono"/>
              </a:rPr>
              <a:t>01 06 00 10 00 03 C8 0E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477000" y="4572000"/>
            <a:ext cx="4699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🔑 关键确认机制：回显对比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Modbus协议规定，功能码06的应答帧必须与请求帧完全一致。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主机通过比对发送与接收的帧是否相同，即可快速确认：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“从机已正确接收并执行了我的写入指令”。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核心知识讲解 - CRC16-Modbus 校验算法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762000"/>
          </a:xfrm>
          <a:prstGeom prst="roundRect">
            <a:avLst>
              <a:gd name="adj" fmla="val 13333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952500" y="1549400"/>
            <a:ext cx="10287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CRC（循环冗余校验）是确保数据传输可靠性的关键技术，能有效检测出因线路干扰、电磁噪声等物理层原因造成的数据传输错误。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413000"/>
            <a:ext cx="5207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26035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397000" y="2565400"/>
            <a:ext cx="431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算法基础：多项式除法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将待传输的一整帧数据视为一个长二进制数，除以一个固定的“生成多项式”，最终得到的余数即为 CRC 校验码。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223000" y="2413000"/>
            <a:ext cx="5207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13500" y="26035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6858000" y="2565400"/>
            <a:ext cx="431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Modbus 生成多项式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标准多项式：0x8005 (二进制: 1000 0000 0000 0101)。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实际计算中，通常使用其位反转后的形式：</a:t>
            </a:r>
            <a:r>
              <a:rPr lang="en-US" sz="1200" b="1" i="0" u="none" strike="noStrike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0xA001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762000" y="4064000"/>
            <a:ext cx="2540000" cy="1206500"/>
          </a:xfrm>
          <a:prstGeom prst="roundRect">
            <a:avLst>
              <a:gd name="adj" fmla="val 8421"/>
            </a:avLst>
          </a:prstGeom>
          <a:solidFill>
            <a:srgbClr val="ECFDF5">
              <a:alpha val="100000"/>
            </a:srgbClr>
          </a:solidFill>
          <a:ln w="12700" cap="flat" cmpd="sng">
            <a:solidFill>
              <a:srgbClr val="10B981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889000" y="4191000"/>
            <a:ext cx="2286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65F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初始化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 16 位 CRC 寄存器赋值为初始值：</a:t>
            </a:r>
            <a:r>
              <a:rPr lang="en-US" sz="11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0xFFFF</a:t>
            </a: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(全1)。</a:t>
            </a:r>
            <a:endParaRPr lang="en-US" sz="11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3556000" y="4064000"/>
            <a:ext cx="2540000" cy="1206500"/>
          </a:xfrm>
          <a:prstGeom prst="roundRect">
            <a:avLst>
              <a:gd name="adj" fmla="val 8421"/>
            </a:avLst>
          </a:prstGeom>
          <a:solidFill>
            <a:srgbClr val="ECFDF5">
              <a:alpha val="100000"/>
            </a:srgbClr>
          </a:solidFill>
          <a:ln w="12700" cap="flat" cmpd="sng">
            <a:solidFill>
              <a:srgbClr val="10B981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3683000" y="4191000"/>
            <a:ext cx="2286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65F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逐字节异或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依次取每一字节，与 CRC 寄存器的低 8 位做</a:t>
            </a:r>
            <a:r>
              <a:rPr lang="en-US" sz="11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XOR (异或)</a:t>
            </a: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运算。</a:t>
            </a:r>
            <a:endParaRPr lang="en-US" sz="11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6350000" y="4064000"/>
            <a:ext cx="2540000" cy="1206500"/>
          </a:xfrm>
          <a:prstGeom prst="roundRect">
            <a:avLst>
              <a:gd name="adj" fmla="val 8421"/>
            </a:avLst>
          </a:prstGeom>
          <a:solidFill>
            <a:srgbClr val="ECFDF5">
              <a:alpha val="100000"/>
            </a:srgbClr>
          </a:solidFill>
          <a:ln w="12700" cap="flat" cmpd="sng">
            <a:solidFill>
              <a:srgbClr val="10B981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6477000" y="4191000"/>
            <a:ext cx="2286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65F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03. 逐位处理(8次)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右移一位，若末位是1则与 0xA001 异或；末位是0，仅右移。</a:t>
            </a:r>
            <a:endParaRPr lang="en-US" sz="11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9144000" y="4064000"/>
            <a:ext cx="2286000" cy="1206500"/>
          </a:xfrm>
          <a:prstGeom prst="roundRect">
            <a:avLst>
              <a:gd name="adj" fmla="val 8421"/>
            </a:avLst>
          </a:prstGeom>
          <a:solidFill>
            <a:srgbClr val="ECFDF5">
              <a:alpha val="100000"/>
            </a:srgbClr>
          </a:solidFill>
          <a:ln w="12700" cap="flat" cmpd="sng">
            <a:solidFill>
              <a:srgbClr val="10B981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9271000" y="4191000"/>
            <a:ext cx="2032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65F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04. 结果输出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处理完所有字节即得校验码，发送时遵循：</a:t>
            </a:r>
            <a:r>
              <a:rPr lang="en-US" sz="11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低字节在前，高字节在后</a:t>
            </a: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762000" y="5461000"/>
            <a:ext cx="10668000" cy="1143000"/>
          </a:xfrm>
          <a:prstGeom prst="roundRect">
            <a:avLst>
              <a:gd name="adj" fmla="val 8888"/>
            </a:avLst>
          </a:prstGeom>
          <a:solidFill>
            <a:srgbClr val="1F2937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889000" y="5588000"/>
            <a:ext cx="1041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A7F3D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uint16_t CRC16_Modbus(uint8_t *buf, uint16_t len) { uint16_t crc = 0xFFFF; for(int i = 0; i &lt; len; i++) { crc ^= buf[i]; for(int j = 0; j &lt; 8; j++) { if(crc &amp; 0x0001) crc = (crc &gt;&gt; 1) ^ 0xA001; else crc &gt;&gt; 1; } } return crc; }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核心知识讲解 - 关键辨析：Modbus TCP vs. RTU over TCP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70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⚠️ 这是本实验中遇到的最关键的问题，理解两者的区别对通信成功至关重要。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841500"/>
            <a:ext cx="10668000" cy="762000"/>
          </a:xfrm>
          <a:prstGeom prst="roundRect">
            <a:avLst>
              <a:gd name="adj" fmla="val 13333"/>
            </a:avLst>
          </a:prstGeom>
          <a:solidFill>
            <a:srgbClr val="F9FAFB">
              <a:alpha val="9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2032000"/>
            <a:ext cx="381000" cy="381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24000" y="1968500"/>
            <a:ext cx="965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场景：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NT1-B 工作在</a:t>
            </a:r>
            <a:r>
              <a:rPr lang="en-US" sz="1400" b="0" i="0" u="none" strike="noStrike">
                <a:solidFill>
                  <a:srgbClr val="F59E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透明转发模式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，它会把从网口收到的所有数据（含协议头）原封不动地透传给 STM32。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2794000"/>
            <a:ext cx="5207000" cy="2095500"/>
          </a:xfrm>
          <a:prstGeom prst="roundRect">
            <a:avLst>
              <a:gd name="adj" fmla="val 7272"/>
            </a:avLst>
          </a:prstGeom>
          <a:solidFill>
            <a:srgbClr val="FEF2F2">
              <a:alpha val="95000"/>
            </a:srgbClr>
          </a:solidFill>
          <a:ln w="12700" cap="flat" cmpd="sng">
            <a:solidFill>
              <a:srgbClr val="EF4444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952500" y="2921000"/>
            <a:ext cx="4826000" cy="184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❌ Modbus TCP (含 MBAP 头)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600"/>
              </a:spcBef>
            </a:pPr>
            <a:r>
              <a:rPr lang="en-US" sz="1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帧格式：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[事务ID(2B)][协议ID(2B)][长度(2B)][单元ID(1B)] + RTU内容...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示例：00 01 00 00 00 06</a:t>
            </a:r>
            <a:r>
              <a:rPr lang="en-US" sz="1100" b="1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03 00 10 00 01</a:t>
            </a:r>
            <a:endParaRPr lang="en-US" sz="11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  <a:spcBef>
                <a:spcPts val="800"/>
              </a:spcBef>
            </a:pPr>
            <a:r>
              <a:rPr lang="en-US" sz="1200" b="1" i="0" u="none" strike="noStrike">
                <a:solidFill>
                  <a:srgbClr val="B91C1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❌ 错误原因：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STM32收到的第一个字节是事务ID(0x00)，而非期望的从机地址(0x01)，导致地址校验失败并直接丢弃帧。</a:t>
            </a:r>
            <a:endParaRPr lang="en-US" sz="12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223000" y="2794000"/>
            <a:ext cx="5207000" cy="2095500"/>
          </a:xfrm>
          <a:prstGeom prst="roundRect">
            <a:avLst>
              <a:gd name="adj" fmla="val 7272"/>
            </a:avLst>
          </a:prstGeom>
          <a:solidFill>
            <a:srgbClr val="ECFDF5">
              <a:alpha val="95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6413500" y="2921000"/>
            <a:ext cx="4826000" cy="184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596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✅ Modbus RTU over TCP (纯RTU帧)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600"/>
              </a:spcBef>
            </a:pPr>
            <a:r>
              <a:rPr lang="en-US" sz="1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帧格式：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直接发送标准 RTU 帧（不带 MBAP 头）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示例：</a:t>
            </a:r>
            <a:r>
              <a:rPr lang="en-US" sz="1100" b="1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00 10 00 01 84 0A (含 CRC 校验)</a:t>
            </a:r>
            <a:endParaRPr lang="en-US" sz="11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  <a:spcBef>
                <a:spcPts val="800"/>
              </a:spcBef>
            </a:pPr>
            <a:r>
              <a:rPr lang="en-US" sz="1200" b="1" i="0" u="none" strike="noStrike">
                <a:solidFill>
                  <a:srgbClr val="0478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✅ 正确原因：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STM32收到的第一个字节即为从机地址(0x01)，与程序逻辑完美匹配，通信正常。</a:t>
            </a:r>
            <a:endParaRPr lang="en-US" sz="12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762000" y="5080000"/>
            <a:ext cx="10668000" cy="1079500"/>
          </a:xfrm>
          <a:prstGeom prst="roundRect">
            <a:avLst>
              <a:gd name="adj" fmla="val 9411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762000" y="5080000"/>
            <a:ext cx="10668000" cy="3175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889000" y="5118100"/>
            <a:ext cx="203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关键维度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3048000" y="5118100"/>
            <a:ext cx="406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Modbus TCP (错误)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239000" y="5118100"/>
            <a:ext cx="406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Modbus RTU over TCP (正确)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89000" y="5524500"/>
            <a:ext cx="203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代码兼容性</a:t>
            </a:r>
            <a:b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/ 帧结构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3048000" y="5524500"/>
            <a:ext cx="406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含7字节MBAP头，需修改代码解析</a:t>
            </a:r>
            <a:b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不兼容原串口RTU代码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239000" y="5524500"/>
            <a:ext cx="406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纯RTU帧 + TCP封装，无需修改代码</a:t>
            </a:r>
            <a:b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完全兼容原串口RTU逻辑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0" y="6286500"/>
            <a:ext cx="12192000" cy="571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56000" y="6375400"/>
            <a:ext cx="304800" cy="3048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4000500" y="6350000"/>
            <a:ext cx="7620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结论：使用透明转发模块时，上位机软件必须选择 Modbus RTU over TCP 模式！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核心知识讲解 - 基础通信知识：TCP/IP 与 UART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0320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49400" y="2032000"/>
            <a:ext cx="4064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TCP/IP 网络基础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794000"/>
            <a:ext cx="4699000" cy="330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spcBef>
                <a:spcPts val="800"/>
              </a:spcBef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▍TCP (传输控制协议)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4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提供</a:t>
            </a:r>
            <a:r>
              <a:rPr lang="en-US" sz="13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面向连接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的、</a:t>
            </a:r>
            <a:r>
              <a:rPr lang="en-US" sz="13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可靠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的字节流服务。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52400" indent="0" algn="l">
              <a:lnSpc>
                <a:spcPct val="108000"/>
              </a:lnSpc>
              <a:spcBef>
                <a:spcPts val="200"/>
              </a:spcBef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面向连接：通信前需完成“三次握手”建立连接。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可靠传输：自带序号、确认、重传机制，保证数据不丢包、不乱序。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  <a:spcBef>
                <a:spcPts val="1600"/>
              </a:spcBef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▍IP 地址与端口机制</a:t>
            </a:r>
            <a:endParaRPr lang="en-US" sz="16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  <a:spcBef>
                <a:spcPts val="400"/>
              </a:spcBef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2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IP 地址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(如 192.168.0.10): 唯一标识网络中的“主机”。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  <a:spcBef>
                <a:spcPts val="200"/>
              </a:spcBef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2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端口号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(如 502): 标识主机上运行的具体“服务”。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  <a:spcBef>
                <a:spcPts val="200"/>
              </a:spcBef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2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Socket (套接字)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: IP与端口的组合 (IP:Port)，确定唯一通信端点。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223000" y="1778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20320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7010400" y="2032000"/>
            <a:ext cx="4064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UART 串口通信原理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477000" y="2794000"/>
            <a:ext cx="4699000" cy="330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spcBef>
                <a:spcPts val="800"/>
              </a:spcBef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▍什么是 UART？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4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通用异步收发传输器 (Universal Asynchronous Receiver/Transmitter)，是嵌入式开发中最基础、最常用的短距通信接口。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  <a:spcBef>
                <a:spcPts val="1400"/>
              </a:spcBef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▍关键特性与易错点</a:t>
            </a:r>
            <a:endParaRPr lang="en-US" sz="16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  <a:spcBef>
                <a:spcPts val="400"/>
              </a:spcBef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2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异步传输：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无共享时钟线，需双方约定相同</a:t>
            </a:r>
            <a:r>
              <a:rPr lang="en-US" sz="12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波特率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(如 9600bps) 同步。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  <a:spcBef>
                <a:spcPts val="200"/>
              </a:spcBef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2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数据帧 (8N1 标准):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起始位(1) + 数据位(8) + 停止位(1)，共11位。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  <a:spcBef>
                <a:spcPts val="600"/>
              </a:spcBef>
            </a:pPr>
            <a:r>
              <a:rPr lang="en-US" sz="1200" b="1" i="0" u="none" strike="noStrike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⚠️ 重点接线规则：一端 TX (发) ⇄ 另一端 RX (收)，且必须共地 (GND)！</a:t>
            </a:r>
            <a:endParaRPr lang="en-US" sz="1200" b="1" i="0" u="none" strike="noStrike">
              <a:solidFill>
                <a:srgbClr val="DC262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016000" y="1143000"/>
            <a:ext cx="3810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96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27940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硬件连接与环境配置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4318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0" i="0" u="none" strike="noStrike">
                <a:solidFill>
                  <a:srgbClr val="FFFFFF">
                    <a:alpha val="7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HARDWARE CONNECTION AND ENVIRONMENT CONFIGURATION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5461000"/>
            <a:ext cx="10160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03. 硬件连接与环境配置 - 硬件清单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3302000" cy="1587500"/>
          </a:xfrm>
          <a:prstGeom prst="roundRect">
            <a:avLst>
              <a:gd name="adj" fmla="val 64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 l="495" r="495"/>
          <a:stretch>
            <a:fillRect/>
          </a:stretch>
        </p:blipFill>
        <p:spPr>
          <a:xfrm>
            <a:off x="952500" y="1676400"/>
            <a:ext cx="1270000" cy="1282700"/>
          </a:xfrm>
          <a:prstGeom prst="roundRect">
            <a:avLst>
              <a:gd name="adj" fmla="val 8000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2349500" y="1651000"/>
            <a:ext cx="15875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STM32 开发板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型号：STM32F103RC</a:t>
            </a:r>
            <a:endParaRPr lang="en-US" sz="11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运行 Modbus 从机程序的主控芯片。</a:t>
            </a:r>
            <a:endParaRPr lang="en-US" sz="10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762000" y="3302000"/>
            <a:ext cx="3302000" cy="1587500"/>
          </a:xfrm>
          <a:prstGeom prst="roundRect">
            <a:avLst>
              <a:gd name="adj" fmla="val 64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rcRect l="495" r="495"/>
          <a:stretch>
            <a:fillRect/>
          </a:stretch>
        </p:blipFill>
        <p:spPr>
          <a:xfrm>
            <a:off x="952500" y="3454400"/>
            <a:ext cx="1270000" cy="1282700"/>
          </a:xfrm>
          <a:prstGeom prst="roundRect">
            <a:avLst>
              <a:gd name="adj" fmla="val 8000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9" name="AutoShape 9"/>
          <p:cNvSpPr/>
          <p:nvPr/>
        </p:nvSpPr>
        <p:spPr>
          <a:xfrm>
            <a:off x="2349500" y="3429000"/>
            <a:ext cx="15875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串口转网口模块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型号：EBYTE NT1-B</a:t>
            </a:r>
            <a:endParaRPr lang="en-US" sz="11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 UART 数据透明转发至以太网。</a:t>
            </a:r>
            <a:endParaRPr lang="en-US" sz="10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762000" y="5080000"/>
            <a:ext cx="3302000" cy="1587500"/>
          </a:xfrm>
          <a:prstGeom prst="roundRect">
            <a:avLst>
              <a:gd name="adj" fmla="val 64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/>
          <a:srcRect l="495" r="495"/>
          <a:stretch>
            <a:fillRect/>
          </a:stretch>
        </p:blipFill>
        <p:spPr>
          <a:xfrm>
            <a:off x="952500" y="5232400"/>
            <a:ext cx="1270000" cy="1282700"/>
          </a:xfrm>
          <a:prstGeom prst="roundRect">
            <a:avLst>
              <a:gd name="adj" fmla="val 8000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2" name="AutoShape 12"/>
          <p:cNvSpPr/>
          <p:nvPr/>
        </p:nvSpPr>
        <p:spPr>
          <a:xfrm>
            <a:off x="2349500" y="5207000"/>
            <a:ext cx="15875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调试器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型号：ST-Link V2</a:t>
            </a:r>
            <a:endParaRPr lang="en-US" sz="11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用于程序烧录与硬件调试。</a:t>
            </a:r>
            <a:endParaRPr lang="en-US" sz="10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4572000" y="1524000"/>
            <a:ext cx="3556000" cy="1905000"/>
          </a:xfrm>
          <a:prstGeom prst="roundRect">
            <a:avLst>
              <a:gd name="adj" fmla="val 5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62500" y="17780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5334000" y="1714500"/>
            <a:ext cx="2667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路由器</a:t>
            </a: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(任意家用路由器)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为串口转网口模块和电脑提供同一局域网环境，实现两者的网络连接与通信。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8382000" y="1524000"/>
            <a:ext cx="3302000" cy="1905000"/>
          </a:xfrm>
          <a:prstGeom prst="roundRect">
            <a:avLst>
              <a:gd name="adj" fmla="val 5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72500" y="17780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9144000" y="1714500"/>
            <a:ext cx="2413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TTL 转 USB 模块</a:t>
            </a: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(CH340/CP2102)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连接 STM32 的调试串口，便于在电脑端查看程序运行日志与调试信息。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4572000" y="3810000"/>
            <a:ext cx="3556000" cy="1905000"/>
          </a:xfrm>
          <a:prstGeom prst="roundRect">
            <a:avLst>
              <a:gd name="adj" fmla="val 5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762500" y="4064000"/>
            <a:ext cx="406400" cy="4064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5334000" y="4000500"/>
            <a:ext cx="2667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标准 RJ45 网线 × 2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一条用于连接“串口转网口模块”至路由器，另一条连接电脑至路由器，建立有线网络连接。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8382000" y="3810000"/>
            <a:ext cx="3302000" cy="1905000"/>
          </a:xfrm>
          <a:prstGeom prst="roundRect">
            <a:avLst>
              <a:gd name="adj" fmla="val 5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572500" y="4064000"/>
            <a:ext cx="406400" cy="4064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9144000" y="4000500"/>
            <a:ext cx="2413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杜邦线 (母对母若干)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用于连接 STM32 开发板的 GPIO 引脚与其他外围模块，完成硬件电路的物理连接。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0" y="6096000"/>
            <a:ext cx="12192000" cy="7620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762000" y="62865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请确保所有硬件连接正确，防止因正负极接反而损坏器件。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03. 硬件连接与环境配置 - 接线详图 (1) - Modbus 通信口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连接 STM32 的 USART2 与 NT1-B 模块的串口端，关键在于</a:t>
            </a:r>
            <a:r>
              <a:rPr lang="en-US" sz="1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交叉连接</a:t>
            </a:r>
            <a:r>
              <a:rPr lang="en-US" sz="18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与</a:t>
            </a:r>
            <a:r>
              <a:rPr lang="en-US" sz="1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共地连接</a:t>
            </a:r>
            <a:r>
              <a:rPr lang="en-US" sz="18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159000"/>
            <a:ext cx="5461000" cy="2794000"/>
          </a:xfrm>
          <a:prstGeom prst="roundRect">
            <a:avLst>
              <a:gd name="adj" fmla="val 545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952500" y="2349500"/>
            <a:ext cx="2476500" cy="1143000"/>
          </a:xfrm>
          <a:prstGeom prst="roundRect">
            <a:avLst>
              <a:gd name="adj" fmla="val 8888"/>
            </a:avLst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079500" y="2476500"/>
            <a:ext cx="2222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PA2 (TX) ⟷ RXD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STM32发送端连接模块接收端。</a:t>
            </a:r>
            <a:r>
              <a:rPr lang="en-US" sz="1100" b="1" i="0" u="none" strike="noStrike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交叉连接！</a:t>
            </a:r>
            <a:endParaRPr lang="en-US" sz="1100" b="1" i="0" u="none" strike="noStrike">
              <a:solidFill>
                <a:srgbClr val="DC262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3556000" y="2349500"/>
            <a:ext cx="2476500" cy="1143000"/>
          </a:xfrm>
          <a:prstGeom prst="roundRect">
            <a:avLst>
              <a:gd name="adj" fmla="val 8888"/>
            </a:avLst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3683000" y="2476500"/>
            <a:ext cx="2222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PA3 (RX) ⟷ TXD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模块发送端连接STM32接收端。</a:t>
            </a:r>
            <a:r>
              <a:rPr lang="en-US" sz="1100" b="1" i="0" u="none" strike="noStrike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交叉连接！</a:t>
            </a:r>
            <a:endParaRPr lang="en-US" sz="1100" b="1" i="0" u="none" strike="noStrike">
              <a:solidFill>
                <a:srgbClr val="DC262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952500" y="3683000"/>
            <a:ext cx="2476500" cy="1143000"/>
          </a:xfrm>
          <a:prstGeom prst="roundRect">
            <a:avLst>
              <a:gd name="adj" fmla="val 8888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1079500" y="3810000"/>
            <a:ext cx="2222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GND ⟷ GND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1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共地连接，必须连接！</a:t>
            </a: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否则无法建立稳定的电平参考，导致通信失败。</a:t>
            </a:r>
            <a:endParaRPr lang="en-US" sz="11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3556000" y="3683000"/>
            <a:ext cx="2476500" cy="1143000"/>
          </a:xfrm>
          <a:prstGeom prst="roundRect">
            <a:avLst>
              <a:gd name="adj" fmla="val 8888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3683000" y="3810000"/>
            <a:ext cx="2222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3.3V / 5V ⟷ VCC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 NT1-B 模块供电。请务必查阅模块规格书确认工作电压，防止烧坏。</a:t>
            </a:r>
            <a:endParaRPr lang="en-US" sz="11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2"/>
          <a:srcRect t="21794" b="21794"/>
          <a:stretch>
            <a:fillRect/>
          </a:stretch>
        </p:blipFill>
        <p:spPr>
          <a:xfrm>
            <a:off x="6477000" y="2159000"/>
            <a:ext cx="4953000" cy="2794000"/>
          </a:xfrm>
          <a:prstGeom prst="roundRect">
            <a:avLst>
              <a:gd name="adj" fmla="val 5454"/>
            </a:avLst>
          </a:prstGeom>
          <a:noFill/>
          <a:ln w="50800" cap="flat" cmpd="sng">
            <a:solidFill>
              <a:srgbClr val="FFFFFF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15" name="AutoShape 15"/>
          <p:cNvSpPr/>
          <p:nvPr/>
        </p:nvSpPr>
        <p:spPr>
          <a:xfrm>
            <a:off x="762000" y="5207000"/>
            <a:ext cx="10668000" cy="1270000"/>
          </a:xfrm>
          <a:prstGeom prst="roundRect">
            <a:avLst>
              <a:gd name="adj" fmla="val 12000"/>
            </a:avLst>
          </a:prstGeom>
          <a:solidFill>
            <a:srgbClr val="FEF2F2">
              <a:alpha val="100000"/>
            </a:srgbClr>
          </a:solidFill>
          <a:ln w="25400" cap="flat" cmpd="sng">
            <a:solidFill>
              <a:srgbClr val="F8717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5461000"/>
            <a:ext cx="762000" cy="762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2032000" y="5397500"/>
            <a:ext cx="914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B91C1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⚠️ 最常见的致命错误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7F1D1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 TX 直接接 TX，RX 直接接 RX。这会导致数据发送端对着发送端，完全无法传输。请务必检查交叉连接是否正确！</a:t>
            </a:r>
            <a:endParaRPr lang="en-US" sz="1300" b="0" i="0" u="none" strike="noStrike">
              <a:solidFill>
                <a:srgbClr val="7F1D1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03. 硬件连接与环境配置 - 接线详图 (2) - 调试口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连接 STM32 的 USART1 与 TTL-USB 模块，建立程序与电脑的“对话窗口”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159000"/>
            <a:ext cx="5588000" cy="2667000"/>
          </a:xfrm>
          <a:prstGeom prst="roundRect">
            <a:avLst>
              <a:gd name="adj" fmla="val 571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952500" y="2349500"/>
          <a:ext cx="5207000" cy="22225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397000"/>
                <a:gridCol w="1397000"/>
                <a:gridCol w="2413000"/>
              </a:tblGrid>
              <a:tr h="5080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STM32 引脚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0B981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TTL-USB 引脚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0B981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功能说明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0B981">
                        <a:alpha val="100000"/>
                      </a:srgbClr>
                    </a:solidFill>
                  </a:tcPr>
                </a:tc>
              </a:tr>
              <a:tr h="5715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F293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PA9 (TX1)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AFB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F293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RXD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AFB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B556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STM32 的调试信息输出端，连接到模块的接收端。</a:t>
                      </a:r>
                      <a:endParaRPr lang="en-US" sz="1100"/>
                    </a:p>
                  </a:txBody>
                  <a:tcPr marL="1270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AFB">
                        <a:alpha val="100000"/>
                      </a:srgbClr>
                    </a:solidFill>
                  </a:tcPr>
                </a:tc>
              </a:tr>
              <a:tr h="5715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F293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PA10 (RX1)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F293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TXD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B556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电脑向 STM32 发送指令的通道，本实验中可暂不连接。</a:t>
                      </a:r>
                      <a:endParaRPr lang="en-US" sz="1100"/>
                    </a:p>
                  </a:txBody>
                  <a:tcPr marL="1270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5715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DC2626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GND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AFB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DC2626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GND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AFB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DC2626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共地，必须连接！否则无法通信。</a:t>
                      </a:r>
                      <a:endParaRPr lang="en-US" sz="1100"/>
                    </a:p>
                  </a:txBody>
                  <a:tcPr marL="1270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AFB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7" name="AutoShape 7"/>
          <p:cNvSpPr/>
          <p:nvPr/>
        </p:nvSpPr>
        <p:spPr>
          <a:xfrm>
            <a:off x="762000" y="5080000"/>
            <a:ext cx="5588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52705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397000" y="5270500"/>
            <a:ext cx="469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观察程序状态的“眼睛”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连接电脑后，打开串口助手（如 SecureCRT/Putty）并设置波特率 115200，即可查看程序中</a:t>
            </a:r>
            <a:r>
              <a:rPr lang="en-US" sz="12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printf()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输出的调试信息（如收发帧、寄存器值），实时监控程序运行。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/>
          <a:srcRect t="25000" b="25000"/>
          <a:stretch>
            <a:fillRect/>
          </a:stretch>
        </p:blipFill>
        <p:spPr>
          <a:xfrm>
            <a:off x="6858000" y="2159000"/>
            <a:ext cx="4572000" cy="2286000"/>
          </a:xfrm>
          <a:prstGeom prst="roundRect">
            <a:avLst>
              <a:gd name="adj" fmla="val 6666"/>
            </a:avLst>
          </a:prstGeom>
          <a:noFill/>
          <a:ln w="254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11" name="AutoShape 11"/>
          <p:cNvSpPr/>
          <p:nvPr/>
        </p:nvSpPr>
        <p:spPr>
          <a:xfrm>
            <a:off x="6858000" y="4699000"/>
            <a:ext cx="4572000" cy="1778000"/>
          </a:xfrm>
          <a:prstGeom prst="roundRect">
            <a:avLst>
              <a:gd name="adj" fmla="val 8571"/>
            </a:avLst>
          </a:prstGeom>
          <a:solidFill>
            <a:srgbClr val="FEF2F2">
              <a:alpha val="100000"/>
            </a:srgbClr>
          </a:solidFill>
          <a:ln w="12700" cap="flat" cmpd="sng">
            <a:solidFill>
              <a:srgbClr val="FCA5A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48500" y="48895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7493000" y="4889500"/>
            <a:ext cx="3683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B91C1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调试常见问题提示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450A0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200" b="1" i="0" u="none" strike="noStrike">
                <a:solidFill>
                  <a:srgbClr val="450A0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无数据输出：</a:t>
            </a:r>
            <a:r>
              <a:rPr lang="en-US" sz="1200" b="0" i="0" u="none" strike="noStrike">
                <a:solidFill>
                  <a:srgbClr val="450A0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请检查硬件连接，确认GND已正确共地。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450A0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200" b="1" i="0" u="none" strike="noStrike">
                <a:solidFill>
                  <a:srgbClr val="450A0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乱码显示：</a:t>
            </a:r>
            <a:r>
              <a:rPr lang="en-US" sz="1200" b="0" i="0" u="none" strike="noStrike">
                <a:solidFill>
                  <a:srgbClr val="450A0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检查串口助手中的波特率、数据位和校验位是否与代码配置一致（默认 115200-8-N-1）。</a:t>
            </a:r>
            <a:endParaRPr lang="en-US" sz="1200" b="0" i="0" u="none" strike="noStrike">
              <a:solidFill>
                <a:srgbClr val="450A0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03. 硬件连接与环境配置 - NT1-B 模块配置步骤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270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使用 EBYTE 官方网络配置工具对 NT1-B 进行参数设置，确保模块与开发环境互联互通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5207000" cy="4191000"/>
          </a:xfrm>
          <a:prstGeom prst="roundRect">
            <a:avLst>
              <a:gd name="adj" fmla="val 242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952500" y="2222500"/>
            <a:ext cx="2349500" cy="1143000"/>
          </a:xfrm>
          <a:prstGeom prst="roundRect">
            <a:avLst>
              <a:gd name="adj" fmla="val 6666"/>
            </a:avLst>
          </a:prstGeom>
          <a:solidFill>
            <a:srgbClr val="F0FDF4">
              <a:alpha val="10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079500" y="2349500"/>
            <a:ext cx="2095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准备环境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将电脑有线网卡 IP 临时修改为出厂默认网段，如</a:t>
            </a:r>
            <a:r>
              <a:rPr lang="en-US" sz="1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192.168.3.100</a:t>
            </a:r>
            <a:endParaRPr lang="en-US" sz="1200" b="1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3429000" y="2222500"/>
            <a:ext cx="2349500" cy="1143000"/>
          </a:xfrm>
          <a:prstGeom prst="roundRect">
            <a:avLst>
              <a:gd name="adj" fmla="val 6666"/>
            </a:avLst>
          </a:prstGeom>
          <a:solidFill>
            <a:srgbClr val="F0FDF4">
              <a:alpha val="10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3556000" y="2349500"/>
            <a:ext cx="2095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搜索设备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打开 EBYTE 官方配置工具，点击「搜索设备」，找到NT1-B</a:t>
            </a:r>
            <a:endParaRPr lang="en-US" sz="12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952500" y="3556000"/>
            <a:ext cx="2349500" cy="1143000"/>
          </a:xfrm>
          <a:prstGeom prst="roundRect">
            <a:avLst>
              <a:gd name="adj" fmla="val 6666"/>
            </a:avLst>
          </a:prstGeom>
          <a:solidFill>
            <a:srgbClr val="F0FDF4">
              <a:alpha val="10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1079500" y="3683000"/>
            <a:ext cx="2095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配置与保存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选中设备并点击「配置」，按参数表填写后点击「保存」</a:t>
            </a:r>
            <a:endParaRPr lang="en-US" sz="12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3429000" y="3556000"/>
            <a:ext cx="2349500" cy="1143000"/>
          </a:xfrm>
          <a:prstGeom prst="roundRect">
            <a:avLst>
              <a:gd name="adj" fmla="val 6666"/>
            </a:avLst>
          </a:prstGeom>
          <a:solidFill>
            <a:srgbClr val="F0FDF4">
              <a:alpha val="10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3556000" y="3683000"/>
            <a:ext cx="2095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重启并验证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重启模块使配置生效，恢复电脑IP后，用命令行</a:t>
            </a:r>
            <a:r>
              <a:rPr lang="en-US" sz="1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ping 192.168.0.10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测试</a:t>
            </a:r>
            <a:endParaRPr lang="en-US" sz="12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952500" y="4953000"/>
            <a:ext cx="4826000" cy="1079500"/>
          </a:xfrm>
          <a:prstGeom prst="roundRect">
            <a:avLst>
              <a:gd name="adj" fmla="val 7058"/>
            </a:avLst>
          </a:prstGeom>
          <a:solidFill>
            <a:srgbClr val="FEF2F2">
              <a:alpha val="100000"/>
            </a:srgbClr>
          </a:solidFill>
          <a:ln w="12700" cap="flat" cmpd="sng">
            <a:solidFill>
              <a:srgbClr val="EF4444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1079500" y="5080000"/>
            <a:ext cx="4572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⚠️ 关键注意事项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7F1D1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模块IP必须与路由器在同一网段。 2. 串口波特率必须与STM32代码中的设置严格一致。</a:t>
            </a:r>
            <a:endParaRPr lang="en-US" sz="1100" b="0" i="0" u="none" strike="noStrike">
              <a:solidFill>
                <a:srgbClr val="7F1D1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2"/>
          <a:srcRect t="200" b="200"/>
          <a:stretch>
            <a:fillRect/>
          </a:stretch>
        </p:blipFill>
        <p:spPr>
          <a:xfrm>
            <a:off x="6223000" y="2032000"/>
            <a:ext cx="2667000" cy="1460500"/>
          </a:xfrm>
          <a:prstGeom prst="rect">
            <a:avLst/>
          </a:prstGeom>
          <a:noFill/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3"/>
          <a:srcRect t="200" b="200"/>
          <a:stretch>
            <a:fillRect/>
          </a:stretch>
        </p:blipFill>
        <p:spPr>
          <a:xfrm>
            <a:off x="9017000" y="2032000"/>
            <a:ext cx="2667000" cy="1460500"/>
          </a:xfrm>
          <a:prstGeom prst="rect">
            <a:avLst/>
          </a:prstGeom>
          <a:noFill/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18" name="AutoShape 18"/>
          <p:cNvSpPr/>
          <p:nvPr/>
        </p:nvSpPr>
        <p:spPr>
          <a:xfrm>
            <a:off x="6223000" y="3683000"/>
            <a:ext cx="5461000" cy="2413000"/>
          </a:xfrm>
          <a:prstGeom prst="roundRect">
            <a:avLst>
              <a:gd name="adj" fmla="val 421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6413500" y="3873500"/>
            <a:ext cx="24765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🌐 网络配置 (Network)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本地IP:</a:t>
            </a:r>
            <a:r>
              <a:rPr lang="en-US" sz="11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192.168.0.10</a:t>
            </a: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(与路由器同网段)</a:t>
            </a:r>
            <a:endParaRPr lang="en-US" sz="11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子网掩码:</a:t>
            </a:r>
            <a:r>
              <a:rPr lang="en-US" sz="11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255.255.255.0</a:t>
            </a:r>
            <a:endParaRPr lang="en-US" sz="1100" b="1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网关:</a:t>
            </a:r>
            <a:r>
              <a:rPr lang="en-US" sz="11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192.168.0.1</a:t>
            </a: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(路由器LAN口IP)</a:t>
            </a:r>
            <a:endParaRPr lang="en-US" sz="11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本地端口:</a:t>
            </a:r>
            <a:r>
              <a:rPr lang="en-US" sz="11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502</a:t>
            </a: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(Modbus TCP 标准端口)</a:t>
            </a:r>
            <a:endParaRPr lang="en-US" sz="11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8953500" y="3873500"/>
            <a:ext cx="24765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⚙️ 运行与串口 (Serial &amp; Mode)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工作模式:</a:t>
            </a:r>
            <a:r>
              <a:rPr lang="en-US" sz="11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TCP Server</a:t>
            </a: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(等待上位机连接)</a:t>
            </a:r>
            <a:endParaRPr lang="en-US" sz="11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波特率:</a:t>
            </a:r>
            <a:r>
              <a:rPr lang="en-US" sz="11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9600 bps</a:t>
            </a: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(匹配代码设置)</a:t>
            </a:r>
            <a:endParaRPr lang="en-US" sz="11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数据位/停止位/校验:</a:t>
            </a:r>
            <a:r>
              <a:rPr lang="en-US" sz="11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8 / 1 / None (8N1)</a:t>
            </a:r>
            <a:endParaRPr lang="en-US" sz="1100" b="1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功能码: 保持默认即可</a:t>
            </a:r>
            <a:endParaRPr lang="en-US" sz="11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03. 硬件连接与环境配置 - 路由器配置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为了让电脑和 NT1-B 设备互相通信，两者必须处于同一局域网内。请按照以下步骤修改路由器 LAN 口设置：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159000"/>
            <a:ext cx="5334000" cy="2794000"/>
          </a:xfrm>
          <a:prstGeom prst="roundRect">
            <a:avLst>
              <a:gd name="adj" fmla="val 545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2413000"/>
            <a:ext cx="355600" cy="355600"/>
          </a:xfrm>
          <a:prstGeom prst="ellipse">
            <a:avLst/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016000" y="2413000"/>
            <a:ext cx="3556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524000" y="2387600"/>
            <a:ext cx="431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登录管理界面：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在浏览器输入路由器后台地址（如 192.168.1.1）并登录。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3175000"/>
            <a:ext cx="355600" cy="355600"/>
          </a:xfrm>
          <a:prstGeom prst="ellipse">
            <a:avLst/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1016000" y="3175000"/>
            <a:ext cx="3556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524000" y="3149600"/>
            <a:ext cx="431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进入 LAN 设置：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在后台菜单中找到“LAN 口设置”或“局域网设置”选项。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016000" y="3937000"/>
            <a:ext cx="355600" cy="355600"/>
          </a:xfrm>
          <a:prstGeom prst="ellipse">
            <a:avLst/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1016000" y="3937000"/>
            <a:ext cx="3556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524000" y="3911600"/>
            <a:ext cx="431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修改并保存：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设置 IP 为 192.168.0.1，子网掩码为 255.255.255.0，保存并重启。</a:t>
            </a:r>
            <a:endParaRPr lang="en-US" sz="1100"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2"/>
          <a:srcRect t="5508" b="5508"/>
          <a:stretch>
            <a:fillRect/>
          </a:stretch>
        </p:blipFill>
        <p:spPr>
          <a:xfrm>
            <a:off x="6350000" y="2159000"/>
            <a:ext cx="5080000" cy="2794000"/>
          </a:xfrm>
          <a:prstGeom prst="rect">
            <a:avLst/>
          </a:prstGeom>
          <a:noFill/>
          <a:ln w="25400" cap="flat" cmpd="sng">
            <a:solidFill>
              <a:srgbClr val="D1D5D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16" name="AutoShape 16"/>
          <p:cNvSpPr/>
          <p:nvPr/>
        </p:nvSpPr>
        <p:spPr>
          <a:xfrm>
            <a:off x="762000" y="5207000"/>
            <a:ext cx="10668000" cy="1270000"/>
          </a:xfrm>
          <a:prstGeom prst="roundRect">
            <a:avLst>
              <a:gd name="adj" fmla="val 8000"/>
            </a:avLst>
          </a:prstGeom>
          <a:solidFill>
            <a:srgbClr val="ECFDF5">
              <a:alpha val="100000"/>
            </a:srgbClr>
          </a:solidFill>
          <a:ln w="12700" cap="flat" cmpd="sng">
            <a:solidFill>
              <a:srgbClr val="A7F3D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5461000"/>
            <a:ext cx="762000" cy="7620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2032000" y="5397500"/>
            <a:ext cx="914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65F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配置作用：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路由器的 DHCP 服务会自动为连接设备分配 IP。修改后，电脑的 Wi-Fi 将被分配 192.168.0.x 网段的 IP，与 NT1-B (192.168.0.10) 处于同一网段，从而实现设备间的互联互通。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016000" y="1016000"/>
            <a:ext cx="2540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27940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STM32 程序设计详解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4318000"/>
            <a:ext cx="1016000" cy="762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5080000"/>
            <a:ext cx="889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E5E7EB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DETAILED EXPLANATION OF STM32 PROGRAMMING</a:t>
            </a:r>
            <a:endParaRPr lang="en-US" sz="11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04. STM32 程序设计详解 - 程序整体架构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本程序采用经典的</a:t>
            </a:r>
            <a:r>
              <a:rPr lang="en-US" sz="16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“前后台”架构</a:t>
            </a:r>
            <a:r>
              <a:rPr lang="en-US" sz="16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，兼顾了硬件的实时响应能力和业务逻辑处理的清晰性。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159000"/>
            <a:ext cx="5207000" cy="2794000"/>
          </a:xfrm>
          <a:prstGeom prst="roundRect">
            <a:avLst>
              <a:gd name="adj" fmla="val 545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413000"/>
            <a:ext cx="355600" cy="355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2387600"/>
            <a:ext cx="4191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后台 (Background) · 中断服务程序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3048000"/>
            <a:ext cx="4699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核心函数：USART2_IRQHandler</a:t>
            </a:r>
            <a:br>
              <a:rPr lang="en-US" sz="13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这是串口2的接收中断函数，每当硬件收到一个字节，即触发此中断，响应速度极快。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sz="13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主要职责：</a:t>
            </a:r>
            <a:br>
              <a:rPr lang="en-US" sz="13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实时地将收到的字节存入全局缓冲区</a:t>
            </a:r>
            <a:r>
              <a:rPr lang="en-US" sz="1300" b="0" i="0" u="none" strike="noStrike">
                <a:solidFill>
                  <a:srgbClr val="10B98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g_rx_buf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，并增加计数变量</a:t>
            </a:r>
            <a:r>
              <a:rPr lang="en-US" sz="1300" b="0" i="0" u="none" strike="noStrike">
                <a:solidFill>
                  <a:srgbClr val="10B98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g_rx_cnt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。该过程原子化操作，不影响主逻辑运行。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223000" y="2159000"/>
            <a:ext cx="5207000" cy="2794000"/>
          </a:xfrm>
          <a:prstGeom prst="roundRect">
            <a:avLst>
              <a:gd name="adj" fmla="val 545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2413000"/>
            <a:ext cx="355600" cy="355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6985000" y="2387600"/>
            <a:ext cx="4191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前台 (Foreground) · 主循环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477000" y="3048000"/>
            <a:ext cx="4699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核心载体：main() 中的 while(1) 循环</a:t>
            </a:r>
            <a:b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程序运行的主体，按固定的 10ms 节拍循环扫描执行。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sz="13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业务逻辑处理：</a:t>
            </a:r>
            <a:b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①</a:t>
            </a:r>
            <a:r>
              <a:rPr lang="en-US" sz="1300" b="0" i="0" u="none" strike="noStrike">
                <a:solidFill>
                  <a:srgbClr val="4B5563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Sensor_Simulate()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：模拟传感器，每秒更新水分/温度数据；</a:t>
            </a:r>
            <a:b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② 检查缓冲区</a:t>
            </a:r>
            <a:r>
              <a:rPr lang="en-US" sz="1300" b="0" i="0" u="none" strike="noStrike">
                <a:solidFill>
                  <a:srgbClr val="4B5563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g_rx_cnt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，若大于 0 则触发数据处理；</a:t>
            </a:r>
            <a:b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③</a:t>
            </a:r>
            <a:r>
              <a:rPr lang="en-US" sz="1300" b="0" i="0" u="none" strike="noStrike">
                <a:solidFill>
                  <a:srgbClr val="4B5563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Modbus_Process()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：解析完整帧数据并生成响应。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762000" y="5334000"/>
            <a:ext cx="10668000" cy="1143000"/>
          </a:xfrm>
          <a:prstGeom prst="roundRect">
            <a:avLst>
              <a:gd name="adj" fmla="val 13333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5626100"/>
            <a:ext cx="457200" cy="4572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778000" y="5524500"/>
            <a:ext cx="927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架构核心优势：</a:t>
            </a:r>
            <a:r>
              <a:rPr lang="en-US" sz="1400" b="0" i="0" u="none" strike="noStrike">
                <a:solidFill>
                  <a:srgbClr val="F0FDF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利用中断的“快”保证数据零丢失，利用主循环的“稳”处理复杂逻辑，实现硬件实时性与代码可维护性的完美平衡，是嵌入式开发的首选架构之一。</a:t>
            </a:r>
            <a:endParaRPr lang="en-US" sz="11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04. STM32 程序设计详解 - 双串口设计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程序中使用了两个独立的串口，各司其职，提高了开发和调试效率。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159000"/>
            <a:ext cx="5207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2159000"/>
            <a:ext cx="76200" cy="2159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2200" y="24130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651000" y="2349500"/>
            <a:ext cx="4064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USART1 调试专用通道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800"/>
              </a:spcBef>
            </a:pPr>
            <a:r>
              <a:rPr lang="en-US" sz="13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配置：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引脚 PA9 / PA10 | 波特率 115200 bps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  <a:spcBef>
                <a:spcPts val="400"/>
              </a:spcBef>
            </a:pPr>
            <a:r>
              <a:rPr lang="en-US" sz="1300" b="1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用途：</a:t>
            </a: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通过重定向</a:t>
            </a:r>
            <a:r>
              <a:rPr lang="en-US" sz="1300" b="0" i="0" u="none" strike="noStrike">
                <a:solidFill>
                  <a:srgbClr val="6B7280"/>
                </a:solidFill>
                <a:latin typeface="Roboto Mono"/>
                <a:ea typeface="Roboto Mono"/>
                <a:cs typeface="Roboto Mono"/>
                <a:sym typeface="Roboto Mono"/>
              </a:rPr>
              <a:t>printf()</a:t>
            </a: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实时输出 Modbus 收发帧的十六进制数据、寄存器状态变化，便于逻辑分析。</a:t>
            </a:r>
            <a:endParaRPr lang="en-US" sz="13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223000" y="2159000"/>
            <a:ext cx="5207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6223000" y="2159000"/>
            <a:ext cx="76200" cy="21590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53200" y="24130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7112000" y="2349500"/>
            <a:ext cx="4064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USART2 业务通信通道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800"/>
              </a:spcBef>
            </a:pPr>
            <a:r>
              <a:rPr lang="en-US" sz="13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配置：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引脚 PA2 / PA3 | 波特率 9600 bps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  <a:spcBef>
                <a:spcPts val="400"/>
              </a:spcBef>
            </a:pPr>
            <a:r>
              <a:rPr lang="en-US" sz="1300" b="1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用途：</a:t>
            </a: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严格遵循 Modbus RTU 协议，与 NT1-B 模块进行工业级数据交互，确保通信稳定性。</a:t>
            </a:r>
            <a:endParaRPr lang="en-US" sz="13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762000" y="4572000"/>
            <a:ext cx="10668000" cy="1905000"/>
          </a:xfrm>
          <a:prstGeom prst="roundRect">
            <a:avLst>
              <a:gd name="adj" fmla="val 8000"/>
            </a:avLst>
          </a:prstGeom>
          <a:solidFill>
            <a:srgbClr val="F0FDF4">
              <a:alpha val="95000"/>
            </a:srgbClr>
          </a:solidFill>
          <a:ln w="12700" cap="flat" cmpd="sng">
            <a:solidFill>
              <a:srgbClr val="BBF7D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9500" y="48260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524000" y="4826000"/>
            <a:ext cx="2921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65F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USART1 初始化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600"/>
              </a:spcBef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复用正点原子标准库</a:t>
            </a:r>
            <a:r>
              <a:rPr lang="en-US" sz="1200" b="0" i="0" u="none" strike="noStrike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uart_init()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初始化函数。重写</a:t>
            </a:r>
            <a:r>
              <a:rPr lang="en-US" sz="1200" b="0" i="0" u="none" strike="noStrike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fputc()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底层函数以实现</a:t>
            </a:r>
            <a:r>
              <a:rPr lang="en-US" sz="1200" b="0" i="0" u="none" strike="noStrike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printf()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输出功能。</a:t>
            </a:r>
            <a:endParaRPr lang="en-US" sz="12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572000" y="48260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5016500" y="4826000"/>
            <a:ext cx="2921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65F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USART2 初始化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600"/>
              </a:spcBef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采用自定义</a:t>
            </a:r>
            <a:r>
              <a:rPr lang="en-US" sz="1200" b="0" i="0" u="none" strike="noStrike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UART2_Init()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配置。手动开启接收中断</a:t>
            </a:r>
            <a:r>
              <a:rPr lang="en-US" sz="1200" b="0" i="0" u="none" strike="noStrike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USART_IT_RXNE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，确保数据到达时能被立即响应。</a:t>
            </a:r>
            <a:endParaRPr lang="en-US" sz="12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064500" y="48260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8509000" y="4826000"/>
            <a:ext cx="2667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65F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中断完全独立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600"/>
              </a:spcBef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两个串口拥有独立的中断向量表入口和中断服务函数(ISR)，分别处理各自的中断请求，保证逻辑互不干扰。</a:t>
            </a:r>
            <a:endParaRPr lang="en-US" sz="12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04. STM32 程序设计详解 - 寄存器表设计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程序使用静态数组</a:t>
            </a:r>
            <a:r>
              <a:rPr lang="en-US" sz="1400" b="1" i="0" u="none" strike="noStrike">
                <a:solidFill>
                  <a:srgbClr val="10B981"/>
                </a:solidFill>
                <a:latin typeface="Menlo"/>
                <a:ea typeface="Menlo"/>
                <a:cs typeface="Menlo"/>
                <a:sym typeface="Menlo"/>
              </a:rPr>
              <a:t>g_regs[]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模拟水分仪内部寄存器，其地址映射与功能定义严格遵循 Modbus 协议手册，实现软件逻辑与硬件行为的标准化映射。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286000"/>
            <a:ext cx="10668000" cy="2159000"/>
          </a:xfrm>
          <a:prstGeom prst="roundRect">
            <a:avLst>
              <a:gd name="adj" fmla="val 470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952500" y="2476500"/>
          <a:ext cx="10160000" cy="1524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397000"/>
                <a:gridCol w="1778000"/>
                <a:gridCol w="1143000"/>
                <a:gridCol w="1143000"/>
                <a:gridCol w="4699000"/>
              </a:tblGrid>
              <a:tr h="4572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地址 (Hex)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寄存器名称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属性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初始值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含义与说明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</a:tr>
              <a:tr h="3556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B5563"/>
                          </a:solidFill>
                          <a:latin typeface="Menlo"/>
                          <a:ea typeface="Menlo"/>
                          <a:cs typeface="Menlo"/>
                          <a:sym typeface="Menlo"/>
                        </a:rPr>
                        <a:t>0x0000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B556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从机地址设置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F59E0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RW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B5563"/>
                          </a:solidFill>
                          <a:latin typeface="Menlo"/>
                          <a:ea typeface="Menlo"/>
                          <a:cs typeface="Menlo"/>
                          <a:sym typeface="Menlo"/>
                        </a:rPr>
                        <a:t>0x0001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6B728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Modbus 从机通讯地址，出厂默认值为 1。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556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10B981"/>
                          </a:solidFill>
                          <a:latin typeface="Menlo"/>
                          <a:ea typeface="Menlo"/>
                          <a:cs typeface="Menlo"/>
                          <a:sym typeface="Menlo"/>
                        </a:rPr>
                        <a:t>0x0010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1F293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砂石种类配置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F59E0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RW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B5563"/>
                          </a:solidFill>
                          <a:latin typeface="Menlo"/>
                          <a:ea typeface="Menlo"/>
                          <a:cs typeface="Menlo"/>
                          <a:sym typeface="Menlo"/>
                        </a:rPr>
                        <a:t>0x0001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B556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可被上位机写入配置：1=粗砂模式 / 2=细砂模式。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556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10B981"/>
                          </a:solidFill>
                          <a:latin typeface="Menlo"/>
                          <a:ea typeface="Menlo"/>
                          <a:cs typeface="Menlo"/>
                          <a:sym typeface="Menlo"/>
                        </a:rPr>
                        <a:t>0x0011 / 0x0012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1F293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水分值 / 温度值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B82F6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RO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B5563"/>
                          </a:solidFill>
                          <a:latin typeface="Menlo"/>
                          <a:ea typeface="Menlo"/>
                          <a:cs typeface="Menlo"/>
                          <a:sym typeface="Menlo"/>
                        </a:rPr>
                        <a:t>128 / 253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B556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实时采集值放大 10 倍后存储，实际值 = 寄存器值 × 0.1。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AutoShape 7"/>
          <p:cNvSpPr/>
          <p:nvPr/>
        </p:nvSpPr>
        <p:spPr>
          <a:xfrm>
            <a:off x="762000" y="4699000"/>
            <a:ext cx="3429000" cy="1778000"/>
          </a:xfrm>
          <a:prstGeom prst="roundRect">
            <a:avLst>
              <a:gd name="adj" fmla="val 857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4889500"/>
            <a:ext cx="355600" cy="355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460500" y="48895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规避浮点运算开销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52500" y="5461000"/>
            <a:ext cx="304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嵌入式处理器浮点运算单元（FPU）通常较弱，整数运算更高效且节省内存资源，避免计算耗时。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381500" y="4699000"/>
            <a:ext cx="3429000" cy="1778000"/>
          </a:xfrm>
          <a:prstGeom prst="roundRect">
            <a:avLst>
              <a:gd name="adj" fmla="val 857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72000" y="4889500"/>
            <a:ext cx="355600" cy="355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080000" y="48895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适配 Modbus 协议规范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572000" y="5461000"/>
            <a:ext cx="304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Modbus 协议定义的保持寄存器为 16 位无符号整数类型，无法直接传输浮点数，整数化存储是通用方案。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001000" y="4699000"/>
            <a:ext cx="3429000" cy="1778000"/>
          </a:xfrm>
          <a:prstGeom prst="roundRect">
            <a:avLst>
              <a:gd name="adj" fmla="val 857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91500" y="4889500"/>
            <a:ext cx="355600" cy="3556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8699500" y="48895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上位机轻松还原真实值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191500" y="5461000"/>
            <a:ext cx="304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 MThings 或 SCADA 软件配置点位时，只需将“系数”设为 0.1，即可自动将整数转换为带小数的物理量。</a:t>
            </a:r>
            <a:endParaRPr lang="en-US" sz="11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04. STM32 程序设计详解 - USART2 接收中断函数解析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335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这是保证通信实时性的核心，每收到一个字节都会立刻进入此函数进行处理。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10668000" cy="2286000"/>
          </a:xfrm>
          <a:prstGeom prst="roundRect">
            <a:avLst>
              <a:gd name="adj" fmla="val 4444"/>
            </a:avLst>
          </a:prstGeom>
          <a:solidFill>
            <a:srgbClr val="111827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952500" y="2159000"/>
            <a:ext cx="10287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93C5FD"/>
                </a:solidFill>
                <a:latin typeface="Roboto Mono"/>
                <a:ea typeface="Roboto Mono"/>
                <a:cs typeface="Roboto Mono"/>
                <a:sym typeface="Roboto Mono"/>
              </a:rPr>
              <a:t>void</a:t>
            </a:r>
            <a:r>
              <a:rPr lang="en-US" sz="1300" b="1" i="0" u="none" strike="noStrike">
                <a:solidFill>
                  <a:srgbClr val="FBBF24"/>
                </a:solidFill>
                <a:latin typeface="Roboto Mono"/>
                <a:ea typeface="Roboto Mono"/>
                <a:cs typeface="Roboto Mono"/>
                <a:sym typeface="Roboto Mono"/>
              </a:rPr>
              <a:t>USART2_IRQHandler</a:t>
            </a:r>
            <a:r>
              <a:rPr lang="en-US" sz="1300" b="0" i="0" u="none" strike="noStrike">
                <a:solidFill>
                  <a:srgbClr val="E5E7EB"/>
                </a:solidFill>
                <a:latin typeface="Roboto Mono"/>
                <a:ea typeface="Roboto Mono"/>
                <a:cs typeface="Roboto Mono"/>
                <a:sym typeface="Roboto Mono"/>
              </a:rPr>
              <a:t>(void) {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9CA3AF"/>
                </a:solidFill>
                <a:latin typeface="Roboto Mono"/>
                <a:ea typeface="Roboto Mono"/>
                <a:cs typeface="Roboto Mono"/>
                <a:sym typeface="Roboto Mono"/>
              </a:rPr>
              <a:t>// 1. 确认中断来源是“接收数据寄存器非空”</a:t>
            </a:r>
            <a:endParaRPr lang="en-US" sz="1300" b="0" i="0" u="none" strike="noStrike">
              <a:solidFill>
                <a:srgbClr val="9CA3A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93C5FD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lang="en-US" sz="1300" b="0" i="0" u="none" strike="noStrike">
                <a:solidFill>
                  <a:srgbClr val="E5E7EB"/>
                </a:solidFill>
                <a:latin typeface="Roboto Mono"/>
                <a:ea typeface="Roboto Mono"/>
                <a:cs typeface="Roboto Mono"/>
                <a:sym typeface="Roboto Mono"/>
              </a:rPr>
              <a:t>(USART_GetITStatus(USART2,</a:t>
            </a:r>
            <a:r>
              <a:rPr lang="en-US" sz="1300" b="0" i="0" u="none" strike="noStrike">
                <a:solidFill>
                  <a:srgbClr val="10B981"/>
                </a:solidFill>
                <a:latin typeface="Roboto Mono"/>
                <a:ea typeface="Roboto Mono"/>
                <a:cs typeface="Roboto Mono"/>
                <a:sym typeface="Roboto Mono"/>
              </a:rPr>
              <a:t>USART_IT_RXNE</a:t>
            </a:r>
            <a:r>
              <a:rPr lang="en-US" sz="1300" b="0" i="0" u="none" strike="noStrike">
                <a:solidFill>
                  <a:srgbClr val="E5E7EB"/>
                </a:solidFill>
                <a:latin typeface="Roboto Mono"/>
                <a:ea typeface="Roboto Mono"/>
                <a:cs typeface="Roboto Mono"/>
                <a:sym typeface="Roboto Mono"/>
              </a:rPr>
              <a:t>) != RESET) {</a:t>
            </a:r>
            <a:endParaRPr lang="en-US" sz="1300" b="0" i="0" u="none" strike="noStrike">
              <a:solidFill>
                <a:srgbClr val="E5E7EB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9CA3AF"/>
                </a:solidFill>
                <a:latin typeface="Roboto Mono"/>
                <a:ea typeface="Roboto Mono"/>
                <a:cs typeface="Roboto Mono"/>
                <a:sym typeface="Roboto Mono"/>
              </a:rPr>
              <a:t>// 2. 读数据寄存器(DR) -&gt; 3. 存入缓冲区并计数(带溢出保护) -&gt; 4. 清除中断标志</a:t>
            </a:r>
            <a:endParaRPr lang="en-US" sz="1300" b="0" i="0" u="none" strike="noStrike">
              <a:solidFill>
                <a:srgbClr val="9CA3A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93C5FD"/>
                </a:solidFill>
                <a:latin typeface="Roboto Mono"/>
                <a:ea typeface="Roboto Mono"/>
                <a:cs typeface="Roboto Mono"/>
                <a:sym typeface="Roboto Mono"/>
              </a:rPr>
              <a:t>uint8_t</a:t>
            </a:r>
            <a:r>
              <a:rPr lang="en-US" sz="1300" b="0" i="0" u="none" strike="noStrike">
                <a:solidFill>
                  <a:srgbClr val="E5E7EB"/>
                </a:solidFill>
                <a:latin typeface="Roboto Mono"/>
                <a:ea typeface="Roboto Mono"/>
                <a:cs typeface="Roboto Mono"/>
                <a:sym typeface="Roboto Mono"/>
              </a:rPr>
              <a:t>d = (uint8_t)USART_ReceiveData(USART2);</a:t>
            </a:r>
            <a:r>
              <a:rPr lang="en-US" sz="1300" b="0" i="0" u="none" strike="noStrike">
                <a:solidFill>
                  <a:srgbClr val="93C5FD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lang="en-US" sz="1300" b="0" i="0" u="none" strike="noStrike">
                <a:solidFill>
                  <a:srgbClr val="E5E7EB"/>
                </a:solidFill>
                <a:latin typeface="Roboto Mono"/>
                <a:ea typeface="Roboto Mono"/>
                <a:cs typeface="Roboto Mono"/>
                <a:sym typeface="Roboto Mono"/>
              </a:rPr>
              <a:t>(g_rx_cnt &lt; RX_BUF_LEN) g_rx_buf[g_rx_cnt++] = d; USART_ClearITPendingBit(USART2,</a:t>
            </a:r>
            <a:r>
              <a:rPr lang="en-US" sz="1300" b="0" i="0" u="none" strike="noStrike">
                <a:solidFill>
                  <a:srgbClr val="10B981"/>
                </a:solidFill>
                <a:latin typeface="Roboto Mono"/>
                <a:ea typeface="Roboto Mono"/>
                <a:cs typeface="Roboto Mono"/>
                <a:sym typeface="Roboto Mono"/>
              </a:rPr>
              <a:t>USART_IT_RXNE</a:t>
            </a:r>
            <a:r>
              <a:rPr lang="en-US" sz="1300" b="0" i="0" u="none" strike="noStrike">
                <a:solidFill>
                  <a:srgbClr val="E5E7EB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lang="en-US" sz="1300" b="0" i="0" u="none" strike="noStrike">
              <a:solidFill>
                <a:srgbClr val="E5E7EB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E5E7EB"/>
                </a:solidFill>
                <a:latin typeface="Roboto Mono"/>
                <a:ea typeface="Roboto Mono"/>
                <a:cs typeface="Roboto Mono"/>
                <a:sym typeface="Roboto Mono"/>
              </a:rPr>
              <a:t>}}</a:t>
            </a:r>
            <a:endParaRPr lang="en-US" sz="1300" b="0" i="0" u="none" strike="noStrike">
              <a:solidFill>
                <a:srgbClr val="E5E7EB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762000" y="4572000"/>
            <a:ext cx="3302000" cy="1778000"/>
          </a:xfrm>
          <a:prstGeom prst="roundRect">
            <a:avLst>
              <a:gd name="adj" fmla="val 571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4826000"/>
            <a:ext cx="457200" cy="4572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587500" y="4762500"/>
            <a:ext cx="2286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中断标志确认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</a:t>
            </a:r>
            <a:r>
              <a:rPr lang="en-US" sz="1200" b="1" i="0" u="none" strike="noStrike">
                <a:solidFill>
                  <a:srgbClr val="10B981"/>
                </a:solidFill>
                <a:latin typeface="Roboto Mono"/>
                <a:ea typeface="Roboto Mono"/>
                <a:cs typeface="Roboto Mono"/>
                <a:sym typeface="Roboto Mono"/>
              </a:rPr>
              <a:t>USART_IT_RXNE</a:t>
            </a: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判断中断是否由“接收数据寄存器非空”触发，避免处理无关中断。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4445000" y="4572000"/>
            <a:ext cx="3302000" cy="1778000"/>
          </a:xfrm>
          <a:prstGeom prst="roundRect">
            <a:avLst>
              <a:gd name="adj" fmla="val 571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35500" y="4826000"/>
            <a:ext cx="457200" cy="4572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5270500" y="4762500"/>
            <a:ext cx="2286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数据读取与暂存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调用</a:t>
            </a:r>
            <a:r>
              <a:rPr lang="en-US" sz="1200" b="1" i="0" u="none" strike="noStrike">
                <a:solidFill>
                  <a:srgbClr val="10B981"/>
                </a:solidFill>
                <a:latin typeface="Roboto Mono"/>
                <a:ea typeface="Roboto Mono"/>
                <a:cs typeface="Roboto Mono"/>
                <a:sym typeface="Roboto Mono"/>
              </a:rPr>
              <a:t>USART_ReceiveData()</a:t>
            </a: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从硬件寄存器中读取字节，并立刻存入全局缓冲区进行暂存处理。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8128000" y="4572000"/>
            <a:ext cx="3302000" cy="1778000"/>
          </a:xfrm>
          <a:prstGeom prst="roundRect">
            <a:avLst>
              <a:gd name="adj" fmla="val 571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18500" y="4826000"/>
            <a:ext cx="457200" cy="4572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8953500" y="4762500"/>
            <a:ext cx="2286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关键的溢出保护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</a:t>
            </a:r>
            <a:r>
              <a:rPr lang="en-US" sz="1200" b="1" i="0" u="none" strike="noStrike">
                <a:solidFill>
                  <a:srgbClr val="EF4444"/>
                </a:solidFill>
                <a:latin typeface="Roboto Mono"/>
                <a:ea typeface="Roboto Mono"/>
                <a:cs typeface="Roboto Mono"/>
                <a:sym typeface="Roboto Mono"/>
              </a:rPr>
              <a:t>g_rx_cnt &lt; RX_BUF_LEN</a:t>
            </a: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限制索引范围，防止缓冲区溢出，避免程序内存错误导致崩溃。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04. STM32 程序设计详解 - Modbus 帧处理函数解析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70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Modbus_Process() 是从机协议栈的“大脑”，负责验证帧的完整性并分发给不同的功能码处理函数。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10668000" cy="2413000"/>
          </a:xfrm>
          <a:prstGeom prst="roundRect">
            <a:avLst>
              <a:gd name="adj" fmla="val 6315"/>
            </a:avLst>
          </a:prstGeom>
          <a:solidFill>
            <a:srgbClr val="1E293B">
              <a:alpha val="95000"/>
            </a:srgbClr>
          </a:solidFill>
          <a:ln w="12700" cap="flat" cmpd="sng">
            <a:solidFill>
              <a:srgbClr val="10B981">
                <a:alpha val="4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2222500"/>
            <a:ext cx="10160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10B98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static void</a:t>
            </a:r>
            <a:r>
              <a:rPr lang="en-US" sz="1100" b="0" i="0" u="none" strike="noStrike">
                <a:solidFill>
                  <a:srgbClr val="FFFF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Modbus_Process(</a:t>
            </a:r>
            <a:r>
              <a:rPr lang="en-US" sz="1100" b="0" i="0" u="none" strike="noStrike">
                <a:solidFill>
                  <a:srgbClr val="10B98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void</a:t>
            </a:r>
            <a:r>
              <a:rPr lang="en-US" sz="1100" b="0" i="0" u="none" strike="noStrike">
                <a:solidFill>
                  <a:srgbClr val="FFFF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) {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FFFF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// 1. 长度验证：帧长度 &lt; 8字节，不完整直接返回</a:t>
            </a:r>
            <a:r>
              <a:rPr lang="en-US" sz="1100" b="0" i="0" u="none" strike="noStrike">
                <a:solidFill>
                  <a:srgbClr val="10B98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if</a:t>
            </a:r>
            <a:r>
              <a:rPr lang="en-US" sz="1100" b="0" i="0" u="none" strike="noStrike">
                <a:solidFill>
                  <a:srgbClr val="FFFF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(g_rx_cnt &lt; 8)</a:t>
            </a:r>
            <a:r>
              <a:rPr lang="en-US" sz="1100" b="0" i="0" u="none" strike="noStrike">
                <a:solidFill>
                  <a:srgbClr val="10B98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return</a:t>
            </a:r>
            <a:r>
              <a:rPr lang="en-US" sz="1100" b="0" i="0" u="none" strike="noStrike">
                <a:solidFill>
                  <a:srgbClr val="FFFF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; 
 Print_HexFrame(g_rx_buf, g_rx_cnt, RX); // 调试打印
 </a:t>
            </a:r>
            <a:endParaRPr lang="en-US" sz="1100" b="0" i="0" u="none" strike="noStrike">
              <a:solidFill>
                <a:srgbClr val="FFFFFF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algn="l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FFFF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// 2. 地址验证：仅响应本从机地址(0x01)</a:t>
            </a:r>
            <a:r>
              <a:rPr lang="en-US" sz="1100" b="0" i="0" u="none" strike="noStrike">
                <a:solidFill>
                  <a:srgbClr val="10B98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if</a:t>
            </a:r>
            <a:r>
              <a:rPr lang="en-US" sz="1100" b="0" i="0" u="none" strike="noStrike">
                <a:solidFill>
                  <a:srgbClr val="FFFF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(g_rx_buf[0] != SLAVE_ADDR)</a:t>
            </a:r>
            <a:r>
              <a:rPr lang="en-US" sz="1100" b="0" i="0" u="none" strike="noStrike">
                <a:solidFill>
                  <a:srgbClr val="F8717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goto</a:t>
            </a:r>
            <a:r>
              <a:rPr lang="en-US" sz="1100" b="0" i="0" u="none" strike="noStrike">
                <a:solidFill>
                  <a:srgbClr val="FFFF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clear; 
</a:t>
            </a:r>
            <a:endParaRPr lang="en-US" sz="1100" b="0" i="0" u="none" strike="noStrike">
              <a:solidFill>
                <a:srgbClr val="FFFFFF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algn="l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FFFF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// 3. CRC验证：计算接收帧的CRC并与帧尾校验</a:t>
            </a:r>
            <a:r>
              <a:rPr lang="en-US" sz="1100" b="0" i="0" u="none" strike="noStrike">
                <a:solidFill>
                  <a:srgbClr val="10B98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uint16_t</a:t>
            </a:r>
            <a:r>
              <a:rPr lang="en-US" sz="1100" b="0" i="0" u="none" strike="noStrike">
                <a:solidFill>
                  <a:srgbClr val="FFFF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crc_recv = g_rx_buf[g_rx_cnt-2] | (g_rx_buf[g_rx_cnt-1] &lt;&lt; 8);</a:t>
            </a:r>
            <a:r>
              <a:rPr lang="en-US" sz="1100" b="0" i="0" u="none" strike="noStrike">
                <a:solidFill>
                  <a:srgbClr val="10B98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uint16_t</a:t>
            </a:r>
            <a:r>
              <a:rPr lang="en-US" sz="1100" b="0" i="0" u="none" strike="noStrike">
                <a:solidFill>
                  <a:srgbClr val="FFFF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crc_calc = CRC16_Modbus(g_rx_buf, g_rx_cnt - 2);</a:t>
            </a:r>
            <a:r>
              <a:rPr lang="en-US" sz="1100" b="0" i="0" u="none" strike="noStrike">
                <a:solidFill>
                  <a:srgbClr val="10B98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if</a:t>
            </a:r>
            <a:r>
              <a:rPr lang="en-US" sz="1100" b="0" i="0" u="none" strike="noStrike">
                <a:solidFill>
                  <a:srgbClr val="FFFF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(crc_recv != crc_calc)</a:t>
            </a:r>
            <a:r>
              <a:rPr lang="en-US" sz="1100" b="0" i="0" u="none" strike="noStrike">
                <a:solidFill>
                  <a:srgbClr val="F8717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goto</a:t>
            </a:r>
            <a:r>
              <a:rPr lang="en-US" sz="1100" b="0" i="0" u="none" strike="noStrike">
                <a:solidFill>
                  <a:srgbClr val="FFFF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clear; 
</a:t>
            </a:r>
            <a:endParaRPr lang="en-US" sz="1100" b="0" i="0" u="none" strike="noStrike">
              <a:solidFill>
                <a:srgbClr val="FFFFFF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algn="l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FFFF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// 4. 功能码分发: 0x03读/0x06写</a:t>
            </a:r>
            <a:r>
              <a:rPr lang="en-US" sz="1100" b="0" i="0" u="none" strike="noStrike">
                <a:solidFill>
                  <a:srgbClr val="10B98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uint8_t</a:t>
            </a:r>
            <a:r>
              <a:rPr lang="en-US" sz="1100" b="0" i="0" u="none" strike="noStrike">
                <a:solidFill>
                  <a:srgbClr val="FFFF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fc = g_rx_buf[1];
 (fc == 0x03) ? Handle_FC03(g_rx_buf) : Handle_FC06(g_rx_buf); 
clear: g_rx_cnt = 0; // 清空缓冲区，准备下一帧</a:t>
            </a:r>
            <a:endParaRPr lang="en-US" sz="1100" b="0" i="0" u="none" strike="noStrike">
              <a:solidFill>
                <a:srgbClr val="FFFFFF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algn="l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FFFF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}</a:t>
            </a:r>
            <a:endParaRPr lang="en-US" sz="1100" b="0" i="0" u="none" strike="noStrike">
              <a:solidFill>
                <a:srgbClr val="FFFFFF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762000" y="4699000"/>
            <a:ext cx="3302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49530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524000" y="4889500"/>
            <a:ext cx="2286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长度验证 (Length)</a:t>
            </a:r>
            <a:endParaRPr lang="en-US" sz="1100"/>
          </a:p>
          <a:p>
            <a:pPr indent="0" algn="l">
              <a:lnSpc>
                <a:spcPct val="100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首先检查接收到的字节数，确保帧不小于 8 字节，过滤掉不完整的短帧数据。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4445000" y="4699000"/>
            <a:ext cx="3302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35500" y="49530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207000" y="4889500"/>
            <a:ext cx="2286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地址验证 (Address)</a:t>
            </a:r>
            <a:endParaRPr lang="en-US" sz="1100"/>
          </a:p>
          <a:p>
            <a:pPr indent="0" algn="l">
              <a:lnSpc>
                <a:spcPct val="100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比对帧首地址码与本机设定的 SLAVE_ADDR (0x01)，只响应发送给自己的指令。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8128000" y="4699000"/>
            <a:ext cx="3302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18500" y="49530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8890000" y="4889500"/>
            <a:ext cx="2286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CRC 完整性验证</a:t>
            </a:r>
            <a:endParaRPr lang="en-US" sz="1100"/>
          </a:p>
          <a:p>
            <a:pPr indent="0" algn="l">
              <a:lnSpc>
                <a:spcPct val="100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 Modbus 算法重新计算 CRC，与帧尾 CRC 比较，确保数据在物理传输中未被破坏。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04. STM32 程序设计详解 - 功能码处理与传感器模拟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3302000" cy="4318000"/>
          </a:xfrm>
          <a:prstGeom prst="roundRect">
            <a:avLst>
              <a:gd name="adj" fmla="val 307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3302000" cy="762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1590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49400" y="2159000"/>
            <a:ext cx="2286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Handle_FC03()</a:t>
            </a:r>
            <a:r>
              <a:rPr lang="en-US" sz="16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读寄存器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2921000"/>
            <a:ext cx="27940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spcBef>
                <a:spcPts val="800"/>
              </a:spcBef>
              <a:defRPr/>
            </a:pPr>
            <a:r>
              <a:rPr lang="en-US" sz="13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🔍 提取参数：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解析请求帧中的起始寄存器地址与待读取的寄存器数量。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1200"/>
              </a:spcBef>
            </a:pPr>
            <a:r>
              <a:rPr lang="en-US" sz="13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🛠️ 构建应答帧：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填充地址与功能码；按寄存器数量计算数据字节长度；从数组 g_regs[] 读取数据并按</a:t>
            </a: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大端字节序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填充；最后追加 CRC 校验码。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  <a:spcBef>
                <a:spcPts val="1200"/>
              </a:spcBef>
            </a:pPr>
            <a:r>
              <a:rPr lang="en-US" sz="13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📤 发送：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 USART2 接口将完整的应答帧发送回主机。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4445000" y="1778000"/>
            <a:ext cx="3302000" cy="4318000"/>
          </a:xfrm>
          <a:prstGeom prst="roundRect">
            <a:avLst>
              <a:gd name="adj" fmla="val 307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4445000" y="1778000"/>
            <a:ext cx="3302000" cy="762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9000" y="21590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5232400" y="2159000"/>
            <a:ext cx="2286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Handle_FC06()</a:t>
            </a:r>
            <a:r>
              <a:rPr lang="en-US" sz="16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写寄存器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699000" y="2921000"/>
            <a:ext cx="27940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spcBef>
                <a:spcPts val="800"/>
              </a:spcBef>
              <a:defRPr/>
            </a:pPr>
            <a:r>
              <a:rPr lang="en-US" sz="1300" b="1" i="0" u="none" strike="noStrike">
                <a:solidFill>
                  <a:srgbClr val="EF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🔒 只读保护：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解析目标地址后，若目标为水分或温度等只读寄存器，则直接拒绝写入请求。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1200"/>
              </a:spcBef>
            </a:pPr>
            <a:r>
              <a:rPr lang="en-US" sz="13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💾 更新数据：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若地址合法且可写，则将解析出的新数值写入寄存器数组 g_regs[] 对应的位置。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  <a:spcBef>
                <a:spcPts val="1200"/>
              </a:spcBef>
            </a:pPr>
            <a:r>
              <a:rPr lang="en-US" sz="13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🔄 回显机制：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将接收到的原始请求帧原样返回，作为“写入操作已成功执行”的确认应答。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8128000" y="1778000"/>
            <a:ext cx="3302000" cy="4318000"/>
          </a:xfrm>
          <a:prstGeom prst="roundRect">
            <a:avLst>
              <a:gd name="adj" fmla="val 307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8128000" y="1778000"/>
            <a:ext cx="3302000" cy="762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82000" y="21590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8915400" y="2159000"/>
            <a:ext cx="2286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Sensor_Simulate()</a:t>
            </a:r>
            <a:r>
              <a:rPr lang="en-US" sz="16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传感器模拟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382000" y="2921000"/>
            <a:ext cx="27940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spcBef>
                <a:spcPts val="800"/>
              </a:spcBef>
              <a:defRPr/>
            </a:pPr>
            <a:r>
              <a:rPr lang="en-US" sz="13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⏱️ 定时更新：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配置定时器中断，使该函数以</a:t>
            </a: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1秒/次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的频率自动执行，模拟传感器数据的实时上报。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1200"/>
              </a:spcBef>
            </a:pPr>
            <a:r>
              <a:rPr lang="en-US" sz="13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🎲 随机游走：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调用伪随机数生成器，对水分和温度寄存器值进行微小的随机增减，模拟真实物理环境的波动。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  <a:spcBef>
                <a:spcPts val="1200"/>
              </a:spcBef>
            </a:pPr>
            <a:r>
              <a:rPr lang="en-US" sz="1300" b="1" i="0" u="none" strike="noStrike">
                <a:solidFill>
                  <a:srgbClr val="F59E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📏 范围限制：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通过边界检测算法，确保模拟值始终在合理的物理量程范围内。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05. MThings 上位机配置 - 协议选择（关键步骤）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533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 MThings 中新建连接时，必须选择正确的协议类型，这是保证通信成功的关键。错误的选择会导致帧格式不匹配，直接中断通信。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413000"/>
            <a:ext cx="5334000" cy="1460500"/>
          </a:xfrm>
          <a:prstGeom prst="roundRect">
            <a:avLst>
              <a:gd name="adj" fmla="val 6956"/>
            </a:avLst>
          </a:prstGeom>
          <a:solidFill>
            <a:srgbClr val="FEF2F2">
              <a:alpha val="100000"/>
            </a:srgbClr>
          </a:solidFill>
          <a:ln w="12700" cap="flat" cmpd="sng">
            <a:solidFill>
              <a:srgbClr val="FCA5A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26035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397000" y="2565400"/>
            <a:ext cx="457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B91C1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错误的选择：Modbus TCP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后果：MThings 会发送带 MBAP 头的 TCP 帧。经 NT1-B 透传后，STM32 收到的帧首字节不是从机地址，导致校验失败，通信中断。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762000" y="4064000"/>
            <a:ext cx="5334000" cy="1841500"/>
          </a:xfrm>
          <a:prstGeom prst="roundRect">
            <a:avLst>
              <a:gd name="adj" fmla="val 5517"/>
            </a:avLst>
          </a:prstGeom>
          <a:solidFill>
            <a:srgbClr val="ECFDF5">
              <a:alpha val="100000"/>
            </a:srgbClr>
          </a:solidFill>
          <a:ln w="12700" cap="flat" cmpd="sng">
            <a:solidFill>
              <a:srgbClr val="6EE7B7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42545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397000" y="4216400"/>
            <a:ext cx="457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478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正确的选择：Modbus RTU over TCP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配置参数：IP</a:t>
            </a:r>
            <a:r>
              <a:rPr lang="en-US" sz="1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192.168.0.10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| 端口</a:t>
            </a:r>
            <a:r>
              <a:rPr lang="en-US" sz="1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502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| 从机地址</a:t>
            </a:r>
            <a:r>
              <a:rPr lang="en-US" sz="1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结果：发送标准 RTU 帧，经透传后 STM32 能正确识别并响应指令。</a:t>
            </a:r>
            <a:endParaRPr lang="en-US" sz="12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rcRect t="17120" b="17120"/>
          <a:stretch>
            <a:fillRect/>
          </a:stretch>
        </p:blipFill>
        <p:spPr>
          <a:xfrm>
            <a:off x="6477000" y="1778000"/>
            <a:ext cx="4953000" cy="3556000"/>
          </a:xfrm>
          <a:prstGeom prst="roundRect">
            <a:avLst>
              <a:gd name="adj" fmla="val 4285"/>
            </a:avLst>
          </a:prstGeom>
          <a:noFill/>
          <a:ln w="254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11" name="AutoShape 11"/>
          <p:cNvSpPr/>
          <p:nvPr/>
        </p:nvSpPr>
        <p:spPr>
          <a:xfrm>
            <a:off x="6477000" y="5461000"/>
            <a:ext cx="4953000" cy="1016000"/>
          </a:xfrm>
          <a:prstGeom prst="roundRect">
            <a:avLst>
              <a:gd name="adj" fmla="val 1000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6604000" y="5651500"/>
            <a:ext cx="469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💡 核心总结：只要使用透明转发模块，</a:t>
            </a:r>
            <a:b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上位机必须选择 RTU over TCP 模式！</a:t>
            </a:r>
            <a:endParaRPr lang="en-US" sz="11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05. MThings 上位机配置 - 点位配置参数详解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270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添加点位，让 MThings 知道要读写哪些寄存器以及如何解析数据。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 t="6696" b="6696"/>
          <a:stretch>
            <a:fillRect/>
          </a:stretch>
        </p:blipFill>
        <p:spPr>
          <a:xfrm>
            <a:off x="762000" y="2032000"/>
            <a:ext cx="10668000" cy="1841500"/>
          </a:xfrm>
          <a:prstGeom prst="rect">
            <a:avLst/>
          </a:prstGeom>
          <a:noFill/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6" name="AutoShape 6"/>
          <p:cNvSpPr/>
          <p:nvPr/>
        </p:nvSpPr>
        <p:spPr>
          <a:xfrm>
            <a:off x="762000" y="4191000"/>
            <a:ext cx="3302000" cy="2159000"/>
          </a:xfrm>
          <a:prstGeom prst="roundRect">
            <a:avLst>
              <a:gd name="adj" fmla="val 470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43815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397000" y="4381500"/>
            <a:ext cx="2476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地址转换要点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52500" y="4953000"/>
            <a:ext cx="2921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Modbus手册中多为十六进制地址（如 0x0010），在MThings配置时需将其转换为</a:t>
            </a:r>
            <a:r>
              <a:rPr lang="en-US" sz="12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十进制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（即16）进行填写，避免连接错误。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445000" y="4191000"/>
            <a:ext cx="3302000" cy="2159000"/>
          </a:xfrm>
          <a:prstGeom prst="roundRect">
            <a:avLst>
              <a:gd name="adj" fmla="val 470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35500" y="43815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5080000" y="4381500"/>
            <a:ext cx="2476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系数与小数位配置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635500" y="4953000"/>
            <a:ext cx="2921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这是还原真实物理量的关键。若设备端存储的是“实际值 × 10”的整数，需将系数设为</a:t>
            </a:r>
            <a:r>
              <a:rPr lang="en-US" sz="12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0.1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，并设置对应的小数位，以正确还原数值。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128000" y="4191000"/>
            <a:ext cx="3302000" cy="2159000"/>
          </a:xfrm>
          <a:prstGeom prst="roundRect">
            <a:avLst>
              <a:gd name="adj" fmla="val 470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18500" y="43815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8763000" y="4381500"/>
            <a:ext cx="2476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读写属性匹配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318500" y="4953000"/>
            <a:ext cx="2921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严格区分寄存器属性：对于水分、温度等只读寄存器，无需填写写功能码；对于支持读写的寄存器，需正确配置读写功能码（如03/06）以确保数据交互正常。</a:t>
            </a:r>
            <a:endParaRPr lang="en-US" sz="11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016000" y="1016000"/>
            <a:ext cx="2540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96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2794000"/>
            <a:ext cx="1016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实验完整步骤复盘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4191000"/>
            <a:ext cx="1016000" cy="762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4953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0" i="0" u="none" strike="noStrike" spc="200">
                <a:solidFill>
                  <a:srgbClr val="FFFFFF">
                    <a:alpha val="7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EXPERIMENT STEP-BY-STEP REVIEW</a:t>
            </a:r>
            <a:endParaRPr lang="en-US" sz="11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06. 实验完整步骤复盘 - 第一阶段：程序开发与串口验证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889000"/>
          </a:xfrm>
          <a:prstGeom prst="roundRect">
            <a:avLst>
              <a:gd name="adj" fmla="val 17142"/>
            </a:avLst>
          </a:prstGeom>
          <a:solidFill>
            <a:srgbClr val="ECFDF5">
              <a:alpha val="100000"/>
            </a:srgbClr>
          </a:solidFill>
          <a:ln w="12700" cap="flat" cmpd="sng">
            <a:solidFill>
              <a:srgbClr val="10B981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587500"/>
            <a:ext cx="508000" cy="508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778000" y="1549400"/>
            <a:ext cx="9398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65F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本阶段目标：</a:t>
            </a:r>
            <a:r>
              <a:rPr lang="en-US" sz="15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确保 STM32 程序逻辑正确，能够通过串口正确响应 Modbus 指令。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2540000"/>
            <a:ext cx="3175000" cy="1270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952500" y="2667000"/>
            <a:ext cx="50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587500" y="2667000"/>
            <a:ext cx="215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工程搭建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 Keil5 中新建工程，添加正点原子标准库文件，配置基础开发环境。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4191000" y="2540000"/>
            <a:ext cx="3175000" cy="1270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4381500" y="2667000"/>
            <a:ext cx="50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5016500" y="2667000"/>
            <a:ext cx="215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代码编写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 USART2 初始化、中断接收、CRC16 校验及 Modbus FC03/FC06 帧处理与数据模拟。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762000" y="4064000"/>
            <a:ext cx="3175000" cy="1270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952500" y="4191000"/>
            <a:ext cx="50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587500" y="4191000"/>
            <a:ext cx="215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编译烧录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配置编译宏，确保 0 Error 0 Warning。使用 ST-Link 将生成的程序烧录到开发板。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4191000" y="4064000"/>
            <a:ext cx="3175000" cy="1270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4381500" y="4191000"/>
            <a:ext cx="50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5016500" y="4191000"/>
            <a:ext cx="215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调试口验证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连接 USART1 至串口助手，复位开发板，检查启动日志及每秒刷新的传感器模拟数据。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762000" y="5461000"/>
            <a:ext cx="6604000" cy="1143000"/>
          </a:xfrm>
          <a:prstGeom prst="roundRect">
            <a:avLst>
              <a:gd name="adj" fmla="val 888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952500" y="5651500"/>
            <a:ext cx="50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1651000" y="5651500"/>
            <a:ext cx="546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串口指令验证（核心）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将串口模块接至 USART2 (9600bps)，手动构造并发送 Modbus RTU 请求帧，观察 STM32 应答帧的正确性，确保逻辑闭环。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4"/>
          <a:srcRect l="4999" r="5000"/>
          <a:stretch>
            <a:fillRect/>
          </a:stretch>
        </p:blipFill>
        <p:spPr>
          <a:xfrm>
            <a:off x="7747000" y="2667000"/>
            <a:ext cx="3810000" cy="2286000"/>
          </a:xfrm>
          <a:prstGeom prst="rect">
            <a:avLst/>
          </a:prstGeom>
          <a:noFill/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23" name="AutoShape 23"/>
          <p:cNvSpPr/>
          <p:nvPr/>
        </p:nvSpPr>
        <p:spPr>
          <a:xfrm>
            <a:off x="7747000" y="5207000"/>
            <a:ext cx="3810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Keil uVision5 开发环境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代码编写与编译的核心平台，需确保标准库配置正确以避免兼容性问题。</a:t>
            </a:r>
            <a:endParaRPr lang="en-US" sz="11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06. 实验完整步骤复盘 - 第二阶段：网络环境搭建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335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🎯 本阶段目标：搭建好从 STM32 到电脑的完整网络链路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5207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349500"/>
            <a:ext cx="609600" cy="609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905000" y="2222500"/>
            <a:ext cx="381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/ 路由器配置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将路由器 LAN 口 IP 地址手动设置为固定值</a:t>
            </a:r>
            <a:r>
              <a:rPr lang="en-US" sz="13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192.168.0.1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，作为整个局域网的网关。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762000" y="3683000"/>
            <a:ext cx="5207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4000500"/>
            <a:ext cx="609600" cy="609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905000" y="3873500"/>
            <a:ext cx="381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/ NT1-B 模块配置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使用 EBYTE 工具配置：IP</a:t>
            </a:r>
            <a:r>
              <a:rPr lang="en-US" sz="12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192.168.0.10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| 端口</a:t>
            </a:r>
            <a:r>
              <a:rPr lang="en-US" sz="12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502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| 模式</a:t>
            </a:r>
            <a:r>
              <a:rPr lang="en-US" sz="12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TCP Server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| 串口</a:t>
            </a:r>
            <a:r>
              <a:rPr lang="en-US" sz="12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9600 8N1</a:t>
            </a:r>
            <a:endParaRPr lang="en-US" sz="1200" b="1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762000" y="5207000"/>
            <a:ext cx="5207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5524500"/>
            <a:ext cx="609600" cy="609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905000" y="5334000"/>
            <a:ext cx="381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/ 硬件物理连接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NT1-B 网口 ⟷ 路由器 | • STM32 USART2 ⟷ NT1-B 串口 | • 电脑 ⟷ 路由器 (Wi-Fi/有线)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6223000" y="2032000"/>
            <a:ext cx="5207000" cy="4572000"/>
          </a:xfrm>
          <a:prstGeom prst="roundRect">
            <a:avLst>
              <a:gd name="adj" fmla="val 2222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6477000" y="2286000"/>
            <a:ext cx="469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/ 网络连通性验证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打开电脑命令提示符(cmd)，执行命令：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&gt; ping 192.168.0.10</a:t>
            </a:r>
            <a:endParaRPr lang="en-US" sz="14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8"/>
          <a:srcRect t="4349" b="4349"/>
          <a:stretch>
            <a:fillRect/>
          </a:stretch>
        </p:blipFill>
        <p:spPr>
          <a:xfrm>
            <a:off x="6477000" y="3683000"/>
            <a:ext cx="4699000" cy="2413000"/>
          </a:xfrm>
          <a:prstGeom prst="rect">
            <a:avLst/>
          </a:prstGeom>
          <a:noFill/>
          <a:ln w="25400" cap="flat" cmpd="sng">
            <a:solidFill>
              <a:srgbClr val="2B2F36">
                <a:alpha val="100000"/>
              </a:srgbClr>
            </a:solidFill>
            <a:prstDash val="solid"/>
            <a:round/>
          </a:ln>
        </p:spPr>
      </p:pic>
      <p:sp>
        <p:nvSpPr>
          <p:cNvPr id="17" name="AutoShape 17"/>
          <p:cNvSpPr/>
          <p:nvPr/>
        </p:nvSpPr>
        <p:spPr>
          <a:xfrm>
            <a:off x="6477000" y="61595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若出现如上图的“来自 192.168.0.10 的回复”，即链路打通。</a:t>
            </a:r>
            <a:endParaRPr lang="en-US" sz="11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06. 实验完整步骤复盘 - 第三阶段：MThings 调试与验证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🎯 本阶段目标：使用 MThings 上位机进行最终的端到端测试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159000"/>
            <a:ext cx="5207000" cy="952500"/>
          </a:xfrm>
          <a:prstGeom prst="roundRect">
            <a:avLst>
              <a:gd name="adj" fmla="val 1066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2387600"/>
            <a:ext cx="355600" cy="355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2286000"/>
            <a:ext cx="419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上位机连接配置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新建连接，协议选择</a:t>
            </a:r>
            <a:r>
              <a:rPr lang="en-US" sz="12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Modbus RTU over TCP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，并正确输入 NT1-B 模块的 IP 地址与端口号。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762000" y="3302000"/>
            <a:ext cx="5207000" cy="1397000"/>
          </a:xfrm>
          <a:prstGeom prst="roundRect">
            <a:avLst>
              <a:gd name="adj" fmla="val 7272"/>
            </a:avLst>
          </a:prstGeom>
          <a:solidFill>
            <a:srgbClr val="ECFDF5">
              <a:alpha val="100000"/>
            </a:srgbClr>
          </a:solidFill>
          <a:ln w="25400" cap="flat" cmpd="sng">
            <a:solidFill>
              <a:srgbClr val="10B98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3556000"/>
            <a:ext cx="355600" cy="355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524000" y="3429000"/>
            <a:ext cx="4191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478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关键问题：协议误选排查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现象：误选“Modbus TCP”导致收不到数据。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分析：调试发现帧首字节为 0x00 (非预期的 0x01)。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解决：将 MThings 协议修正为 Modbus RTU over TCP。</a:t>
            </a:r>
            <a:endParaRPr lang="en-US" sz="11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762000" y="4889500"/>
            <a:ext cx="24765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2500" y="50800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397000" y="5016500"/>
            <a:ext cx="1714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03. 点位添加与轮询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添加“砂石种类”、“实时水分值”、“温度值”三个关键点位，启动数据自动轮询。</a:t>
            </a:r>
            <a:endParaRPr lang="en-US" sz="11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3492500" y="4889500"/>
            <a:ext cx="24765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683000" y="50800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4127500" y="5016500"/>
            <a:ext cx="1714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&amp; 05. 读写全验证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读：确认数值实时刷新且准确。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写：向“砂石种类”写入新值(如3)，验证立即生效与回读成功。</a:t>
            </a:r>
            <a:endParaRPr lang="en-US" sz="11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6223000" y="2159000"/>
            <a:ext cx="5207000" cy="2667000"/>
          </a:xfrm>
          <a:prstGeom prst="roundRect">
            <a:avLst>
              <a:gd name="adj" fmla="val 3809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0"/>
          <a:srcRect l="1189" r="1189"/>
          <a:stretch>
            <a:fillRect/>
          </a:stretch>
        </p:blipFill>
        <p:spPr>
          <a:xfrm>
            <a:off x="6350000" y="2286000"/>
            <a:ext cx="4953000" cy="2413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9" name="AutoShape 19"/>
          <p:cNvSpPr/>
          <p:nvPr/>
        </p:nvSpPr>
        <p:spPr>
          <a:xfrm>
            <a:off x="6223000" y="5080000"/>
            <a:ext cx="5207000" cy="1206500"/>
          </a:xfrm>
          <a:prstGeom prst="roundRect">
            <a:avLst>
              <a:gd name="adj" fmla="val 8421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413500" y="5334000"/>
            <a:ext cx="279400" cy="2794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6858000" y="5270500"/>
            <a:ext cx="4381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界面预览：实时监控与交互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图中展示了MThings软件的操作界面，所有设备点位均能在界面上清晰展示。该界面支持数据的实时刷新和手动写入，是验证嵌入式设备通信功能的直观工具。</a:t>
            </a:r>
            <a:endParaRPr lang="en-US" sz="11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016000" y="1016000"/>
            <a:ext cx="10160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96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07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27940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遇到的问题与解决方案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4318000"/>
            <a:ext cx="1270000" cy="762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5207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PROBLEMS AND SOLUTIONS</a:t>
            </a:r>
            <a:endParaRPr lang="en-US" sz="11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07. 遇到的问题与解决方案 - 问题一：MThings 使用 Modbus TCP 导致通信失败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2225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24000" y="2222500"/>
            <a:ext cx="228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59E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问题现象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3048000"/>
            <a:ext cx="2794000" cy="266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在调试过程中，我们观察到以下矛盾现象：</a:t>
            </a:r>
            <a:endParaRPr lang="en-US" sz="1100"/>
          </a:p>
          <a:p>
            <a:pPr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MThings 软件读取/写入数据时，界面持续提示</a:t>
            </a:r>
            <a:r>
              <a:rPr lang="en-US" sz="1300" b="1" i="0" u="none" strike="noStrike">
                <a:solidFill>
                  <a:srgbClr val="EF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“写失败” 或 “超时”</a:t>
            </a: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，无法建立有效连接。</a:t>
            </a:r>
            <a:endParaRPr lang="en-US" sz="13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直接使用串口调试助手，向STM32 发送标准的 RTU 帧时，设备能正常应答，证明硬件链路无故障。</a:t>
            </a:r>
            <a:endParaRPr lang="en-US" sz="13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4445000" y="1905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9000" y="22225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5207000" y="2222500"/>
            <a:ext cx="228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根本原因分析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699000" y="3048000"/>
            <a:ext cx="2794000" cy="266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核心在于协议帧格式不匹配：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**NT1-B 角色**：它是透明转发器，不解析任何应用层协议，直接将网络数据原样转发给串口。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 **TCP vs RTU**：若MThings 选 Modbus TCP，发送的帧包含 **MBAP 头** (如 `00 01 00 00...`)。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 **地址校验失败**：STM32 期望收到的第一个字节是从机地址 `0x01`，但实际收到的是MBAP头的 `0x00`，导致在解析第一步即丢弃数据包，上位机因无响应而超时。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8128000" y="1905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ECFDF5">
              <a:alpha val="100000"/>
            </a:srgbClr>
          </a:solidFill>
          <a:ln w="25400" cap="flat" cmpd="sng">
            <a:solidFill>
              <a:srgbClr val="10B981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82000" y="22225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8890000" y="2222500"/>
            <a:ext cx="228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解决方案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382000" y="3048000"/>
            <a:ext cx="2794000" cy="266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065F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修改 MThings 配置中的协议模式：</a:t>
            </a:r>
            <a:endParaRPr lang="en-US" sz="1100"/>
          </a:p>
          <a:p>
            <a:pPr indent="0" algn="ctr">
              <a:lnSpc>
                <a:spcPct val="150000"/>
              </a:lnSpc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</a:t>
            </a:r>
            <a:r>
              <a:rPr lang="en-US" sz="1500" b="1" i="0" u="none" strike="noStrike">
                <a:solidFill>
                  <a:srgbClr val="EF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“Modbus TCP”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切换为</a:t>
            </a:r>
            <a:r>
              <a:rPr lang="en-US" sz="16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“Modbus RTU over TCP”</a:t>
            </a:r>
            <a:endParaRPr lang="en-US" sz="1600" b="1" i="0" u="none" strike="noStrike">
              <a:solidFill>
                <a:srgbClr val="10B98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spcBef>
                <a:spcPts val="16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RTU over TCP 模式下，MThings 将发送不带MBAP头的标准RTU帧，STM32即可正确识别从机地址并解析数据。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07. 遇到的问题与解决方案 - 问题二 &amp; 三：程序卡死与调试器异常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5207000" cy="762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2032000"/>
            <a:ext cx="4699000" cy="381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spcAft>
                <a:spcPts val="1600"/>
              </a:spcAft>
              <a:defRPr/>
            </a:pPr>
            <a:r>
              <a:rPr lang="en-US" sz="24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</a:t>
            </a: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程序卡死在 delay_ms 循环</a:t>
            </a:r>
            <a:endParaRPr lang="en-US" sz="1100"/>
          </a:p>
          <a:p>
            <a:pPr indent="0" algn="l">
              <a:lnSpc>
                <a:spcPct val="108000"/>
              </a:lnSpc>
              <a:spcAft>
                <a:spcPts val="1200"/>
              </a:spcAft>
            </a:pPr>
            <a:r>
              <a:rPr lang="en-US" sz="14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📌 现象：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Keil 调试时，程序停在 `delay.c` 的延时循环中，无法运行到 `main` 函数体。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  <a:spcAft>
                <a:spcPts val="1200"/>
              </a:spcAft>
            </a:pPr>
            <a:r>
              <a:rPr lang="en-US" sz="1400" b="1" i="0" u="none" strike="noStrike">
                <a:solidFill>
                  <a:srgbClr val="F59E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🔍 原因：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项目混用了自定义与库函数 `delay_ms()`。因未调用 `delay_init()` 初始化系统滴答定时器(SysTick)，导致库函数内部参数错误，陷入死循环。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</a:pPr>
            <a:r>
              <a:rPr lang="en-US" sz="14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💡 解决方案：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删除自定义延时函数，在 `main()` 开头调用 `delay_init()`，并统一使用库函数 `delay_ms()`。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6223000" y="1651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6223000" y="1651000"/>
            <a:ext cx="5207000" cy="762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6477000" y="2032000"/>
            <a:ext cx="4699000" cy="381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spcAft>
                <a:spcPts val="1600"/>
              </a:spcAft>
              <a:defRPr/>
            </a:pPr>
            <a:r>
              <a:rPr lang="en-US" sz="24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03.</a:t>
            </a: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Keil 调试器 USART2 寄存器显示乱码</a:t>
            </a:r>
            <a:endParaRPr lang="en-US" sz="1100"/>
          </a:p>
          <a:p>
            <a:pPr indent="0" algn="l">
              <a:lnSpc>
                <a:spcPct val="108000"/>
              </a:lnSpc>
              <a:spcAft>
                <a:spcPts val="1200"/>
              </a:spcAft>
            </a:pPr>
            <a:r>
              <a:rPr lang="en-US" sz="14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📌 现象：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 Keil 调试模式下，查看 `Peripherals → USART2`，寄存器值显示为小方块或无效值。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  <a:spcAft>
                <a:spcPts val="1200"/>
              </a:spcAft>
            </a:pPr>
            <a:r>
              <a:rPr lang="en-US" sz="1400" b="1" i="0" u="none" strike="noStrike">
                <a:solidFill>
                  <a:srgbClr val="F59E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🔍 原因：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同问题二，程序在初始化前就已卡死，导致 `UART2_Init()` 函数从未执行，USART2 的时钟未被使能，寄存器无法被访问。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</a:pPr>
            <a:r>
              <a:rPr lang="en-US" sz="14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💡 解决方案：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确保 `main()` 函数的第一条执行语句是 `delay_init()`，保证所有初始化函数按正确顺序执行，避免系统资源未就绪。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016000" y="1143000"/>
            <a:ext cx="2540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96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08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2794000"/>
            <a:ext cx="762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实验结果验证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4191000"/>
            <a:ext cx="1016000" cy="762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48260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 spc="200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EXPERIMENTAL RESULTS VERIFICATION</a:t>
            </a:r>
            <a:endParaRPr lang="en-US" sz="11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08. 实验结果验证 - 读操作验证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270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MThings 开始轮询后，三个点位成功显示预期值，数据映射准确且实时变化。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3429000" cy="1460500"/>
          </a:xfrm>
          <a:prstGeom prst="roundRect">
            <a:avLst>
              <a:gd name="adj" fmla="val 695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2032000"/>
            <a:ext cx="76200" cy="1460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1400" y="22606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524000" y="2184400"/>
            <a:ext cx="2413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砂石种类 (整数映射)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600"/>
              </a:spcBef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寄存器原始值：</a:t>
            </a: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→ 显示值：</a:t>
            </a: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</a:t>
            </a:r>
            <a:endParaRPr lang="en-US" sz="1300" b="1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系数为1，直接映射为整数显示。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762000" y="3683000"/>
            <a:ext cx="3429000" cy="1460500"/>
          </a:xfrm>
          <a:prstGeom prst="roundRect">
            <a:avLst>
              <a:gd name="adj" fmla="val 695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762000" y="3683000"/>
            <a:ext cx="76200" cy="1460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1400" y="39116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524000" y="3835400"/>
            <a:ext cx="2413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实时水分值 (动态计算)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600"/>
              </a:spcBef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128 × 0.1 →</a:t>
            </a: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12.8%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(动态变化)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数值在 5.0%~20.0% 间每秒随机游走。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762000" y="5207000"/>
            <a:ext cx="3429000" cy="1460500"/>
          </a:xfrm>
          <a:prstGeom prst="roundRect">
            <a:avLst>
              <a:gd name="adj" fmla="val 695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762000" y="5207000"/>
            <a:ext cx="76200" cy="1460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41400" y="54356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524000" y="5359400"/>
            <a:ext cx="2413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温度值 (动态计算)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600"/>
              </a:spcBef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253 × 0.1 →</a:t>
            </a: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25.3℃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(动态变化)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数值在 15.0℃~35.0℃ 间每秒随机游走。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8"/>
          <a:srcRect l="18344" r="18344"/>
          <a:stretch>
            <a:fillRect/>
          </a:stretch>
        </p:blipFill>
        <p:spPr>
          <a:xfrm>
            <a:off x="4572000" y="2032000"/>
            <a:ext cx="6858000" cy="2159000"/>
          </a:xfrm>
          <a:prstGeom prst="rect">
            <a:avLst/>
          </a:prstGeom>
          <a:noFill/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9"/>
          <a:srcRect t="23875" b="23875"/>
          <a:stretch>
            <a:fillRect/>
          </a:stretch>
        </p:blipFill>
        <p:spPr>
          <a:xfrm>
            <a:off x="4572000" y="4445000"/>
            <a:ext cx="6858000" cy="2222500"/>
          </a:xfrm>
          <a:prstGeom prst="rect">
            <a:avLst/>
          </a:prstGeom>
          <a:noFill/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08. 实验结果验证 - 写操作与只读保护验证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验证写操作的有效性和程序的健壮性，确保寄存器读写逻辑符合预期设计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159000"/>
            <a:ext cx="5207000" cy="4064000"/>
          </a:xfrm>
          <a:prstGeom prst="roundRect">
            <a:avLst>
              <a:gd name="adj" fmla="val 375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2159000"/>
            <a:ext cx="5207000" cy="762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016000" y="2489200"/>
            <a:ext cx="4699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r>
              <a:rPr lang="en-US" sz="2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写操作有效性验证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3175000"/>
            <a:ext cx="46990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📝 操作指令：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 MThings 中对“砂石种类”寄存器（地址 16）执行写操作，写入数值</a:t>
            </a:r>
            <a:r>
              <a:rPr lang="en-US" sz="13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`3`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📡 通信帧 (HEX)：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发送帧与应答帧完全一致，均为</a:t>
            </a:r>
            <a:r>
              <a:rPr lang="en-US" sz="13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`01 06 00 10 00 03 C8 0E`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✅ 验证结果：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MThings 界面数值即时刷新为 `3`；重新读取该寄存器，确认数值无误。证明底层写操作与回显逻辑均正确有效。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223000" y="2159000"/>
            <a:ext cx="5207000" cy="4064000"/>
          </a:xfrm>
          <a:prstGeom prst="roundRect">
            <a:avLst>
              <a:gd name="adj" fmla="val 375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6223000" y="2159000"/>
            <a:ext cx="5207000" cy="762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477000" y="2489200"/>
            <a:ext cx="4699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r>
              <a:rPr lang="en-US" sz="2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只读保护机制验证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477000" y="3175000"/>
            <a:ext cx="46990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⚠️ 测试场景：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尝试使用功能码 06 向只读属性的“实时水分值”寄存器（地址 17）强行写入任意数值。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🛡️ 执行表现：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STM32 固件成功识别非法写请求，直接丢弃指令并不发送应答帧；上位机 MThings 因超时未收到回复，正确提示通信错误。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💡 验证结论：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只读保护逻辑设计完善，有效防止了对系统关键数据的意外篡改，显著提升了程序的安全性与健壮性。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08. 实验结果验证 - USART1 调试口输出样例分析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1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调试串口是我们观察程序内部运行状态的“眼睛”。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10668000" cy="2286000"/>
          </a:xfrm>
          <a:prstGeom prst="roundRect">
            <a:avLst>
              <a:gd name="adj" fmla="val 4444"/>
            </a:avLst>
          </a:prstGeom>
          <a:solidFill>
            <a:srgbClr val="1E293B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952500" y="2222500"/>
            <a:ext cx="10287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  <a:t>=== Moisture Meter Modbus Slave === | Slave Addr:</a:t>
            </a:r>
            <a:r>
              <a:rPr lang="en-US" sz="1100" b="1" i="0" u="none" strike="noStrike">
                <a:solidFill>
                  <a:srgbClr val="10B981"/>
                </a:solidFill>
                <a:latin typeface="Roboto Mono"/>
                <a:ea typeface="Roboto Mono"/>
                <a:cs typeface="Roboto Mono"/>
                <a:sym typeface="Roboto Mono"/>
              </a:rPr>
              <a:t>0x01</a:t>
            </a:r>
            <a:r>
              <a:rPr lang="en-US" sz="1100" b="0" i="0" u="none" strike="noStrike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  <a:t>| USART2:</a:t>
            </a:r>
            <a:r>
              <a:rPr lang="en-US" sz="1100" b="1" i="0" u="none" strike="noStrike">
                <a:solidFill>
                  <a:srgbClr val="10B981"/>
                </a:solidFill>
                <a:latin typeface="Roboto Mono"/>
                <a:ea typeface="Roboto Mono"/>
                <a:cs typeface="Roboto Mono"/>
                <a:sym typeface="Roboto Mono"/>
              </a:rPr>
              <a:t>9600 bps</a:t>
            </a:r>
            <a:r>
              <a:rPr lang="en-US" sz="1100" b="0" i="0" u="none" strike="noStrike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  <a:t>(Modbus) | USART1:</a:t>
            </a:r>
            <a:r>
              <a:rPr lang="en-US" sz="1100" b="1" i="0" u="none" strike="noStrike">
                <a:solidFill>
                  <a:srgbClr val="10B981"/>
                </a:solidFill>
                <a:latin typeface="Roboto Mono"/>
                <a:ea typeface="Roboto Mono"/>
                <a:cs typeface="Roboto Mono"/>
                <a:sym typeface="Roboto Mono"/>
              </a:rPr>
              <a:t>115200 bps</a:t>
            </a:r>
            <a:r>
              <a:rPr lang="en-US" sz="1100" b="0" i="0" u="none" strike="noStrike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  <a:t>(Debug)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9CA3AF"/>
                </a:solidFill>
                <a:latin typeface="Roboto Mono"/>
                <a:ea typeface="Roboto Mono"/>
                <a:cs typeface="Roboto Mono"/>
                <a:sym typeface="Roboto Mono"/>
              </a:rPr>
              <a:t>[SENSOR] Moisture=12.8% Temp=25.3C | [RX] 01 03 00 11 00 01 D5 CA |</a:t>
            </a:r>
            <a:r>
              <a:rPr lang="en-US" sz="1100" b="0" i="0" u="none" strike="noStrike">
                <a:solidFill>
                  <a:srgbClr val="F472B6"/>
                </a:solidFill>
                <a:latin typeface="Roboto Mono"/>
                <a:ea typeface="Roboto Mono"/>
                <a:cs typeface="Roboto Mono"/>
                <a:sym typeface="Roboto Mono"/>
              </a:rPr>
              <a:t>FC03: read reg 0x0011, count 1</a:t>
            </a:r>
            <a:r>
              <a:rPr lang="en-US" sz="1100" b="0" i="0" u="none" strike="noStrike">
                <a:solidFill>
                  <a:srgbClr val="9CA3AF"/>
                </a:solidFill>
                <a:latin typeface="Roboto Mono"/>
                <a:ea typeface="Roboto Mono"/>
                <a:cs typeface="Roboto Mono"/>
                <a:sym typeface="Roboto Mono"/>
              </a:rPr>
              <a:t>| [TX] 01 03 02 00 80 B9 FC</a:t>
            </a:r>
            <a:endParaRPr lang="en-US" sz="1100" b="0" i="0" u="none" strike="noStrike">
              <a:solidFill>
                <a:srgbClr val="9CA3A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algn="l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9CA3AF"/>
                </a:solidFill>
                <a:latin typeface="Roboto Mono"/>
                <a:ea typeface="Roboto Mono"/>
                <a:cs typeface="Roboto Mono"/>
                <a:sym typeface="Roboto Mono"/>
              </a:rPr>
              <a:t>[SENSOR] Moisture=13.1% Temp=25.2C | [RX] 01 06 00 10 00 03 C8 0E |</a:t>
            </a:r>
            <a:r>
              <a:rPr lang="en-US" sz="1100" b="0" i="0" u="none" strike="noStrike">
                <a:solidFill>
                  <a:srgbClr val="FBBF24"/>
                </a:solidFill>
                <a:latin typeface="Roboto Mono"/>
                <a:ea typeface="Roboto Mono"/>
                <a:cs typeface="Roboto Mono"/>
                <a:sym typeface="Roboto Mono"/>
              </a:rPr>
              <a:t>FC06: write reg 0x0010 = 3</a:t>
            </a:r>
            <a:r>
              <a:rPr lang="en-US" sz="1100" b="0" i="0" u="none" strike="noStrike">
                <a:solidFill>
                  <a:srgbClr val="9CA3AF"/>
                </a:solidFill>
                <a:latin typeface="Roboto Mono"/>
                <a:ea typeface="Roboto Mono"/>
                <a:cs typeface="Roboto Mono"/>
                <a:sym typeface="Roboto Mono"/>
              </a:rPr>
              <a:t>| [TX] 01 06 00 10 00 03 C8 0E</a:t>
            </a:r>
            <a:endParaRPr lang="en-US" sz="1100" b="0" i="0" u="none" strike="noStrike">
              <a:solidFill>
                <a:srgbClr val="9CA3A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algn="l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60A5FA"/>
                </a:solidFill>
                <a:latin typeface="Roboto Mono"/>
                <a:ea typeface="Roboto Mono"/>
                <a:cs typeface="Roboto Mono"/>
                <a:sym typeface="Roboto Mono"/>
              </a:rPr>
              <a:t>Waiting for Modbus requests... (System Ready)</a:t>
            </a:r>
            <a:endParaRPr lang="en-US" sz="1100" b="0" i="0" u="none" strike="noStrike">
              <a:solidFill>
                <a:srgbClr val="60A5FA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762000" y="4572000"/>
            <a:ext cx="2540000" cy="1778000"/>
          </a:xfrm>
          <a:prstGeom prst="roundRect">
            <a:avLst>
              <a:gd name="adj" fmla="val 571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47625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397000" y="47244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启动配置确认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52500" y="5270500"/>
            <a:ext cx="215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日志首行确认Modbus从机地址与波特率配置无误，确保通信参数正确。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467100" y="4572000"/>
            <a:ext cx="2540000" cy="1778000"/>
          </a:xfrm>
          <a:prstGeom prst="roundRect">
            <a:avLst>
              <a:gd name="adj" fmla="val 571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57600" y="47625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4102100" y="47244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传感器状态监控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3657600" y="5270500"/>
            <a:ext cx="215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周期性输出[SENSOR]行，直观展示温湿度模拟数据，快速定位传感器驱动异常。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172200" y="4572000"/>
            <a:ext cx="2540000" cy="1778000"/>
          </a:xfrm>
          <a:prstGeom prst="roundRect">
            <a:avLst>
              <a:gd name="adj" fmla="val 571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62700" y="47625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6807200" y="47244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帧数据透明化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362700" y="5270500"/>
            <a:ext cx="215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[RX]/[TX] 完整打印每帧原始字节，可直接比对Modbus协议规范，排查物理层丢包。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877300" y="4572000"/>
            <a:ext cx="2540000" cy="1778000"/>
          </a:xfrm>
          <a:prstGeom prst="roundRect">
            <a:avLst>
              <a:gd name="adj" fmla="val 571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067800" y="4762500"/>
            <a:ext cx="304800" cy="3048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9512300" y="47244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逻辑执行追踪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9067800" y="5270500"/>
            <a:ext cx="215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输出功能码(FC03/FC06)解析过程，验证寄存器读写与业务逻辑是否按预期流转。</a:t>
            </a:r>
            <a:endParaRPr lang="en-US" sz="11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016000" y="1016000"/>
            <a:ext cx="2540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96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09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2794000"/>
            <a:ext cx="1016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实验总结与知识点归纳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4191000"/>
            <a:ext cx="10160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5080000"/>
            <a:ext cx="889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 spc="100">
                <a:solidFill>
                  <a:srgbClr val="E5E7EB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EXPERIMENT SUMMARY &amp; KNOWLEDGE INDUCTION</a:t>
            </a:r>
            <a:endParaRPr lang="en-US" sz="11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09. 实验总结与知识点归纳 - 核心知识点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本实验成功构建了一套完整的工业数据采集系统，涵盖了嵌入式开发、工业协议、网络通信三大核心领域。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159000"/>
            <a:ext cx="3302000" cy="1460500"/>
          </a:xfrm>
          <a:prstGeom prst="roundRect">
            <a:avLst>
              <a:gd name="adj" fmla="val 695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2159000"/>
            <a:ext cx="76200" cy="1460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016000" y="2286000"/>
            <a:ext cx="2921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Modbus RTU 协议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600"/>
              </a:spcBef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完整实现从机地址校验、CRC16校验、FC03读寄存器及FC06写寄存器的全部逻辑。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4445000" y="2159000"/>
            <a:ext cx="3302000" cy="1460500"/>
          </a:xfrm>
          <a:prstGeom prst="roundRect">
            <a:avLst>
              <a:gd name="adj" fmla="val 695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4445000" y="2159000"/>
            <a:ext cx="76200" cy="1460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4699000" y="2286000"/>
            <a:ext cx="2921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Modbus RTU vs TCP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600"/>
              </a:spcBef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遭遇并解决了协议选型的关键问题，深刻理解两种帧格式在物理层与数据链路层的本质区别。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8128000" y="2159000"/>
            <a:ext cx="3302000" cy="1460500"/>
          </a:xfrm>
          <a:prstGeom prst="roundRect">
            <a:avLst>
              <a:gd name="adj" fmla="val 695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8128000" y="2159000"/>
            <a:ext cx="76200" cy="1460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8382000" y="2286000"/>
            <a:ext cx="2921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CRC16 校验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600"/>
              </a:spcBef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透彻理解循环冗余校验原理，并基于C语言成功实现与功能验证了CRC16-Modbus算法。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762000" y="3810000"/>
            <a:ext cx="3302000" cy="1460500"/>
          </a:xfrm>
          <a:prstGeom prst="roundRect">
            <a:avLst>
              <a:gd name="adj" fmla="val 695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762000" y="3810000"/>
            <a:ext cx="76200" cy="1460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1016000" y="3937000"/>
            <a:ext cx="2921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UART 串口通信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600"/>
              </a:spcBef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精准配置9600bps 8N1传输模式，采用中断方式高效接收数据，并实现可靠的阻塞式数据发送。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4445000" y="3810000"/>
            <a:ext cx="3302000" cy="1460500"/>
          </a:xfrm>
          <a:prstGeom prst="roundRect">
            <a:avLst>
              <a:gd name="adj" fmla="val 695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4445000" y="3810000"/>
            <a:ext cx="76200" cy="1460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4699000" y="3937000"/>
            <a:ext cx="2921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中断编程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600"/>
              </a:spcBef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采用经典的“前后台”软件架构，中断服务函数负责实时接收数据流，主循环处理帧解析逻辑。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8128000" y="3810000"/>
            <a:ext cx="3302000" cy="1460500"/>
          </a:xfrm>
          <a:prstGeom prst="roundRect">
            <a:avLst>
              <a:gd name="adj" fmla="val 695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8128000" y="3810000"/>
            <a:ext cx="76200" cy="1460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8382000" y="3937000"/>
            <a:ext cx="2921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TCP/IP 网络配置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600"/>
              </a:spcBef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完成NT1-B模块的IP与端口配置，设置路由器网段匹配，并熟练使用 ping 命令验证网络连通性。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762000" y="5207000"/>
            <a:ext cx="3302000" cy="1460500"/>
          </a:xfrm>
          <a:prstGeom prst="roundRect">
            <a:avLst>
              <a:gd name="adj" fmla="val 695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762000" y="5207000"/>
            <a:ext cx="76200" cy="1460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1016000" y="5334000"/>
            <a:ext cx="2921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串口转网口模块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600"/>
              </a:spcBef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理解“透明转发”技术原理，掌握使用专用配置工具对模块进行波特率与网络参数的设置方法。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6" name="AutoShape 26"/>
          <p:cNvSpPr/>
          <p:nvPr/>
        </p:nvSpPr>
        <p:spPr>
          <a:xfrm>
            <a:off x="4445000" y="5207000"/>
            <a:ext cx="3302000" cy="1460500"/>
          </a:xfrm>
          <a:prstGeom prst="roundRect">
            <a:avLst>
              <a:gd name="adj" fmla="val 695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4445000" y="5207000"/>
            <a:ext cx="76200" cy="1460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4699000" y="5334000"/>
            <a:ext cx="2921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Keil 调试方法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600"/>
              </a:spcBef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掌握断点定位死循环，通过Watch &amp; Call Stack Window 查看外设寄存器与变量，快速定位问题。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9" name="AutoShape 29"/>
          <p:cNvSpPr/>
          <p:nvPr/>
        </p:nvSpPr>
        <p:spPr>
          <a:xfrm>
            <a:off x="8128000" y="5207000"/>
            <a:ext cx="3302000" cy="1460500"/>
          </a:xfrm>
          <a:prstGeom prst="roundRect">
            <a:avLst>
              <a:gd name="adj" fmla="val 695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8128000" y="5207000"/>
            <a:ext cx="76200" cy="1460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AutoShape 31"/>
          <p:cNvSpPr/>
          <p:nvPr/>
        </p:nvSpPr>
        <p:spPr>
          <a:xfrm>
            <a:off x="8382000" y="5334000"/>
            <a:ext cx="2921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嵌入式调试技巧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600"/>
              </a:spcBef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熟练运用调试串口（Debug UART）与printf打印收发帧数据，逐步验证并打通全链路通信。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09. 实验总结与知识点归纳 - 可扩展方向与展望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302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905000"/>
            <a:ext cx="457200" cy="4572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651000" y="1879600"/>
            <a:ext cx="215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支持更多功能码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667000"/>
            <a:ext cx="279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实现功能码 02（读离散输入）、功能码 16（写多个寄存器）等，以支持更复杂的数据读写和批量参数配置。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445000" y="1651000"/>
            <a:ext cx="3302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9000" y="1905000"/>
            <a:ext cx="457200" cy="4572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5334000" y="1879600"/>
            <a:ext cx="215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原生 Modbus TCP 支持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699000" y="2667000"/>
            <a:ext cx="279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修改 STM32 代码，使其能够解析 Modbus TCP 帧的 MBAP 头，从而可以直接与标准的 Modbus TCP 主机通信。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128000" y="1651000"/>
            <a:ext cx="3302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82000" y="1905000"/>
            <a:ext cx="457200" cy="4572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9017000" y="1879600"/>
            <a:ext cx="215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接入真实传感器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382000" y="2667000"/>
            <a:ext cx="279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将模拟传感器数据替换为真实的传感器输入，如使用 ADC 读取土壤湿度传感器，或使用 I2C/SPI 接口读取温湿度传感器，从“模拟”走向“真实”的数据采集。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4191000"/>
            <a:ext cx="51435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6000" y="4572000"/>
            <a:ext cx="508000" cy="5080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1778000" y="45085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RS485 总线通信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1778000" y="5080000"/>
            <a:ext cx="3937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 STM32 上增加 RS485 驱动芯片（如 MAX485），实现真正的 Modbus RTU 总线通信，支持在同一总线上挂载多个不同地址的从机设备。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286500" y="4191000"/>
            <a:ext cx="51435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540500" y="4572000"/>
            <a:ext cx="508000" cy="5080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7302500" y="45085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云端数据上传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7302500" y="5080000"/>
            <a:ext cx="3937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将采集到的数据通过 MQTT 等协议上传到云平台（如阿里云、腾讯云），实现远程监控和数据分析，打通物联网应用的“最后一公里”。</a:t>
            </a:r>
            <a:endParaRPr lang="en-US" sz="11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016000" y="25400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感谢观看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3937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spc="400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THANKS FOR WATCHING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5334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期待与您的进一步交流与合作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16133</Words>
  <Application>WPS 演示</Application>
  <PresentationFormat/>
  <Paragraphs>850</Paragraphs>
  <Slides>44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44</vt:i4>
      </vt:variant>
    </vt:vector>
  </HeadingPairs>
  <TitlesOfParts>
    <vt:vector size="61" baseType="lpstr">
      <vt:lpstr>Arial</vt:lpstr>
      <vt:lpstr>宋体</vt:lpstr>
      <vt:lpstr>Wingdings</vt:lpstr>
      <vt:lpstr>Arial</vt:lpstr>
      <vt:lpstr>Noto Sans SC</vt:lpstr>
      <vt:lpstr>Roboto Mono</vt:lpstr>
      <vt:lpstr>SWAstro</vt:lpstr>
      <vt:lpstr>微软雅黑</vt:lpstr>
      <vt:lpstr>Arial Unicode MS</vt:lpstr>
      <vt:lpstr>Source Code Pro</vt:lpstr>
      <vt:lpstr>Consolas</vt:lpstr>
      <vt:lpstr>Menlo</vt:lpstr>
      <vt:lpstr>Cascadia Mono</vt:lpstr>
      <vt:lpstr>Advent Pro</vt:lpstr>
      <vt:lpstr>SWMeteo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唐丽莎</cp:lastModifiedBy>
  <cp:revision>2</cp:revision>
  <dcterms:created xsi:type="dcterms:W3CDTF">2026-04-29T01:51:30Z</dcterms:created>
  <dcterms:modified xsi:type="dcterms:W3CDTF">2026-04-29T01:51:38Z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8BB19912D55A4D34AACF1E0CAE560598_12</vt:lpwstr>
  </property>
  <property fmtid="{D5CDD505-2E9C-101B-9397-08002B2CF9AE}" pid="3" name="KSOProductBuildVer">
    <vt:lpwstr>2052-12.1.0.23539</vt:lpwstr>
  </property>
</Properties>
</file>